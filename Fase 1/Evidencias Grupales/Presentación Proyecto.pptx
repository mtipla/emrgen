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T Chocolates Ultra-Bold" charset="1" panose="02000903040000020003"/>
      <p:regular r:id="rId22"/>
    </p:embeddedFont>
    <p:embeddedFont>
      <p:font typeface="TT Chocolates" charset="1" panose="02000503020000020003"/>
      <p:regular r:id="rId23"/>
    </p:embeddedFont>
    <p:embeddedFont>
      <p:font typeface="TT Chocolates Bold" charset="1" panose="02000803020000020003"/>
      <p:regular r:id="rId24"/>
    </p:embeddedFont>
    <p:embeddedFont>
      <p:font typeface="Open Sans" charset="1" panose="020B0606030504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45.png" Type="http://schemas.openxmlformats.org/officeDocument/2006/relationships/image"/><Relationship Id="rId12" Target="../media/image46.svg" Type="http://schemas.openxmlformats.org/officeDocument/2006/relationships/image"/><Relationship Id="rId13" Target="../media/image47.png" Type="http://schemas.openxmlformats.org/officeDocument/2006/relationships/image"/><Relationship Id="rId14" Target="../media/image4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9.png" Type="http://schemas.openxmlformats.org/officeDocument/2006/relationships/image"/><Relationship Id="rId5" Target="../embeddings/oleObject1.bin" Type="http://schemas.openxmlformats.org/officeDocument/2006/relationships/oleObject"/><Relationship Id="rId6" Target="../media/image50.png" Type="http://schemas.openxmlformats.org/officeDocument/2006/relationships/image"/><Relationship Id="rId7" Target="../embeddings/oleObject2.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1.jpeg" Type="http://schemas.openxmlformats.org/officeDocument/2006/relationships/image"/><Relationship Id="rId5" Target="../media/VAHUwH3aIjc.mp4" Type="http://schemas.openxmlformats.org/officeDocument/2006/relationships/video"/><Relationship Id="rId6" Target="../media/VAHUwH3aIjc.mp4" Type="http://schemas.microsoft.com/office/2007/relationships/media"/></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11" Target="../media/image59.svg" Type="http://schemas.openxmlformats.org/officeDocument/2006/relationships/image"/><Relationship Id="rId12" Target="../media/image60.png" Type="http://schemas.openxmlformats.org/officeDocument/2006/relationships/image"/><Relationship Id="rId13" Target="../media/image6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321758">
            <a:off x="-2075795" y="484206"/>
            <a:ext cx="24584984" cy="8929074"/>
          </a:xfrm>
          <a:custGeom>
            <a:avLst/>
            <a:gdLst/>
            <a:ahLst/>
            <a:cxnLst/>
            <a:rect r="r" b="b" t="t" l="l"/>
            <a:pathLst>
              <a:path h="8929074" w="24584984">
                <a:moveTo>
                  <a:pt x="24584984" y="0"/>
                </a:moveTo>
                <a:lnTo>
                  <a:pt x="0" y="0"/>
                </a:lnTo>
                <a:lnTo>
                  <a:pt x="0" y="8929074"/>
                </a:lnTo>
                <a:lnTo>
                  <a:pt x="24584984" y="8929074"/>
                </a:lnTo>
                <a:lnTo>
                  <a:pt x="2458498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30765" y="-653810"/>
            <a:ext cx="6877457" cy="11594620"/>
            <a:chOff x="0" y="0"/>
            <a:chExt cx="1811347" cy="3053727"/>
          </a:xfrm>
        </p:grpSpPr>
        <p:sp>
          <p:nvSpPr>
            <p:cNvPr name="Freeform 4" id="4"/>
            <p:cNvSpPr/>
            <p:nvPr/>
          </p:nvSpPr>
          <p:spPr>
            <a:xfrm flipH="false" flipV="false" rot="0">
              <a:off x="0" y="0"/>
              <a:ext cx="1811347" cy="3053727"/>
            </a:xfrm>
            <a:custGeom>
              <a:avLst/>
              <a:gdLst/>
              <a:ahLst/>
              <a:cxnLst/>
              <a:rect r="r" b="b" t="t" l="l"/>
              <a:pathLst>
                <a:path h="3053727" w="1811347">
                  <a:moveTo>
                    <a:pt x="0" y="0"/>
                  </a:moveTo>
                  <a:lnTo>
                    <a:pt x="1811347" y="0"/>
                  </a:lnTo>
                  <a:lnTo>
                    <a:pt x="1811347" y="3053727"/>
                  </a:lnTo>
                  <a:lnTo>
                    <a:pt x="0" y="3053727"/>
                  </a:lnTo>
                  <a:close/>
                </a:path>
              </a:pathLst>
            </a:custGeom>
            <a:solidFill>
              <a:srgbClr val="FFFFFF"/>
            </a:solidFill>
          </p:spPr>
        </p:sp>
        <p:sp>
          <p:nvSpPr>
            <p:cNvPr name="TextBox 5" id="5"/>
            <p:cNvSpPr txBox="true"/>
            <p:nvPr/>
          </p:nvSpPr>
          <p:spPr>
            <a:xfrm>
              <a:off x="0" y="19050"/>
              <a:ext cx="1811347" cy="3034677"/>
            </a:xfrm>
            <a:prstGeom prst="rect">
              <a:avLst/>
            </a:prstGeom>
          </p:spPr>
          <p:txBody>
            <a:bodyPr anchor="ctr" rtlCol="false" tIns="50800" lIns="50800" bIns="50800" rIns="50800"/>
            <a:lstStyle/>
            <a:p>
              <a:pPr algn="ctr">
                <a:lnSpc>
                  <a:spcPts val="2616"/>
                </a:lnSpc>
              </a:pPr>
            </a:p>
          </p:txBody>
        </p:sp>
      </p:grpSp>
      <p:grpSp>
        <p:nvGrpSpPr>
          <p:cNvPr name="Group 6" id="6"/>
          <p:cNvGrpSpPr>
            <a:grpSpLocks noChangeAspect="true"/>
          </p:cNvGrpSpPr>
          <p:nvPr/>
        </p:nvGrpSpPr>
        <p:grpSpPr>
          <a:xfrm rot="1088998">
            <a:off x="12192712" y="1271284"/>
            <a:ext cx="3717099" cy="7354919"/>
            <a:chOff x="0" y="0"/>
            <a:chExt cx="2620010" cy="5184140"/>
          </a:xfrm>
        </p:grpSpPr>
        <p:sp>
          <p:nvSpPr>
            <p:cNvPr name="Freeform 7" id="7"/>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8" id="8"/>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12934" t="0" r="-112934" b="0"/>
              </a:stretch>
            </a:blipFill>
          </p:spPr>
        </p:sp>
        <p:sp>
          <p:nvSpPr>
            <p:cNvPr name="Freeform 9" id="9"/>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10" id="10"/>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11" id="11"/>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2" id="12"/>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3" id="13"/>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4" id="14"/>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5" id="15"/>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name="Group 16" id="16"/>
          <p:cNvGrpSpPr>
            <a:grpSpLocks noChangeAspect="true"/>
          </p:cNvGrpSpPr>
          <p:nvPr/>
        </p:nvGrpSpPr>
        <p:grpSpPr>
          <a:xfrm rot="1088998">
            <a:off x="10790226" y="1934860"/>
            <a:ext cx="3717099" cy="7354919"/>
            <a:chOff x="0" y="0"/>
            <a:chExt cx="2620010" cy="5184140"/>
          </a:xfrm>
        </p:grpSpPr>
        <p:sp>
          <p:nvSpPr>
            <p:cNvPr name="Freeform 17" id="17"/>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8" id="18"/>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112934" t="0" r="-112934" b="0"/>
              </a:stretch>
            </a:blipFill>
          </p:spPr>
        </p:sp>
        <p:sp>
          <p:nvSpPr>
            <p:cNvPr name="Freeform 19" id="19"/>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20" id="20"/>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21" id="21"/>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22" id="22"/>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23" id="23"/>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24" id="24"/>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25" id="25"/>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TextBox 26" id="26"/>
          <p:cNvSpPr txBox="true"/>
          <p:nvPr/>
        </p:nvSpPr>
        <p:spPr>
          <a:xfrm rot="0">
            <a:off x="586356" y="2925434"/>
            <a:ext cx="7879761" cy="2686885"/>
          </a:xfrm>
          <a:prstGeom prst="rect">
            <a:avLst/>
          </a:prstGeom>
        </p:spPr>
        <p:txBody>
          <a:bodyPr anchor="t" rtlCol="false" tIns="0" lIns="0" bIns="0" rIns="0">
            <a:spAutoFit/>
          </a:bodyPr>
          <a:lstStyle/>
          <a:p>
            <a:pPr algn="l">
              <a:lnSpc>
                <a:spcPts val="10469"/>
              </a:lnSpc>
            </a:pPr>
            <a:r>
              <a:rPr lang="en-US" sz="9605" b="true">
                <a:solidFill>
                  <a:srgbClr val="000000"/>
                </a:solidFill>
                <a:latin typeface="TT Chocolates Ultra-Bold"/>
                <a:ea typeface="TT Chocolates Ultra-Bold"/>
                <a:cs typeface="TT Chocolates Ultra-Bold"/>
                <a:sym typeface="TT Chocolates Ultra-Bold"/>
              </a:rPr>
              <a:t>PROYECTO </a:t>
            </a:r>
          </a:p>
          <a:p>
            <a:pPr algn="l">
              <a:lnSpc>
                <a:spcPts val="10469"/>
              </a:lnSpc>
            </a:pPr>
            <a:r>
              <a:rPr lang="en-US" b="true" sz="9605">
                <a:solidFill>
                  <a:srgbClr val="000000"/>
                </a:solidFill>
                <a:latin typeface="TT Chocolates Ultra-Bold"/>
                <a:ea typeface="TT Chocolates Ultra-Bold"/>
                <a:cs typeface="TT Chocolates Ultra-Bold"/>
                <a:sym typeface="TT Chocolates Ultra-Bold"/>
              </a:rPr>
              <a:t>EMERGEN</a:t>
            </a:r>
          </a:p>
        </p:txBody>
      </p:sp>
      <p:sp>
        <p:nvSpPr>
          <p:cNvPr name="TextBox 27" id="27"/>
          <p:cNvSpPr txBox="true"/>
          <p:nvPr/>
        </p:nvSpPr>
        <p:spPr>
          <a:xfrm rot="0">
            <a:off x="586356" y="1987704"/>
            <a:ext cx="8220235" cy="707673"/>
          </a:xfrm>
          <a:prstGeom prst="rect">
            <a:avLst/>
          </a:prstGeom>
        </p:spPr>
        <p:txBody>
          <a:bodyPr anchor="t" rtlCol="false" tIns="0" lIns="0" bIns="0" rIns="0">
            <a:spAutoFit/>
          </a:bodyPr>
          <a:lstStyle/>
          <a:p>
            <a:pPr algn="l">
              <a:lnSpc>
                <a:spcPts val="5481"/>
              </a:lnSpc>
            </a:pPr>
            <a:r>
              <a:rPr lang="en-US" sz="5028" spc="2519">
                <a:solidFill>
                  <a:srgbClr val="000000"/>
                </a:solidFill>
                <a:latin typeface="TT Chocolates"/>
                <a:ea typeface="TT Chocolates"/>
                <a:cs typeface="TT Chocolates"/>
                <a:sym typeface="TT Chocolates"/>
              </a:rPr>
              <a:t>FASE 1</a:t>
            </a:r>
          </a:p>
        </p:txBody>
      </p:sp>
      <p:sp>
        <p:nvSpPr>
          <p:cNvPr name="TextBox 28" id="28"/>
          <p:cNvSpPr txBox="true"/>
          <p:nvPr/>
        </p:nvSpPr>
        <p:spPr>
          <a:xfrm rot="0">
            <a:off x="1013353" y="7300722"/>
            <a:ext cx="3683120" cy="1957578"/>
          </a:xfrm>
          <a:prstGeom prst="rect">
            <a:avLst/>
          </a:prstGeom>
        </p:spPr>
        <p:txBody>
          <a:bodyPr anchor="t" rtlCol="false" tIns="0" lIns="0" bIns="0" rIns="0">
            <a:spAutoFit/>
          </a:bodyPr>
          <a:lstStyle/>
          <a:p>
            <a:pPr algn="l">
              <a:lnSpc>
                <a:spcPts val="2616"/>
              </a:lnSpc>
            </a:pPr>
            <a:r>
              <a:rPr lang="en-US" sz="2400" b="true">
                <a:solidFill>
                  <a:srgbClr val="2E2E2E"/>
                </a:solidFill>
                <a:latin typeface="TT Chocolates Bold"/>
                <a:ea typeface="TT Chocolates Bold"/>
                <a:cs typeface="TT Chocolates Bold"/>
                <a:sym typeface="TT Chocolates Bold"/>
              </a:rPr>
              <a:t>GRUPO 6</a:t>
            </a:r>
          </a:p>
          <a:p>
            <a:pPr algn="l">
              <a:lnSpc>
                <a:spcPts val="2616"/>
              </a:lnSpc>
            </a:pPr>
          </a:p>
          <a:p>
            <a:pPr algn="l">
              <a:lnSpc>
                <a:spcPts val="2616"/>
              </a:lnSpc>
            </a:pPr>
            <a:r>
              <a:rPr lang="en-US" sz="2400">
                <a:solidFill>
                  <a:srgbClr val="2E2E2E"/>
                </a:solidFill>
                <a:latin typeface="TT Chocolates"/>
                <a:ea typeface="TT Chocolates"/>
                <a:cs typeface="TT Chocolates"/>
                <a:sym typeface="TT Chocolates"/>
              </a:rPr>
              <a:t>INTEGRANTES:</a:t>
            </a:r>
          </a:p>
          <a:p>
            <a:pPr algn="l" marL="518160" indent="-259080" lvl="1">
              <a:lnSpc>
                <a:spcPts val="2616"/>
              </a:lnSpc>
              <a:buFont typeface="Arial"/>
              <a:buChar char="•"/>
            </a:pPr>
            <a:r>
              <a:rPr lang="en-US" sz="2400">
                <a:solidFill>
                  <a:srgbClr val="2E2E2E"/>
                </a:solidFill>
                <a:latin typeface="TT Chocolates"/>
                <a:ea typeface="TT Chocolates"/>
                <a:cs typeface="TT Chocolates"/>
                <a:sym typeface="TT Chocolates"/>
              </a:rPr>
              <a:t>GABRIEL VALENCIA</a:t>
            </a:r>
          </a:p>
          <a:p>
            <a:pPr algn="l" marL="518160" indent="-259080" lvl="1">
              <a:lnSpc>
                <a:spcPts val="2616"/>
              </a:lnSpc>
              <a:buFont typeface="Arial"/>
              <a:buChar char="•"/>
            </a:pPr>
            <a:r>
              <a:rPr lang="en-US" sz="2400">
                <a:solidFill>
                  <a:srgbClr val="2E2E2E"/>
                </a:solidFill>
                <a:latin typeface="TT Chocolates"/>
                <a:ea typeface="TT Chocolates"/>
                <a:cs typeface="TT Chocolates"/>
                <a:sym typeface="TT Chocolates"/>
              </a:rPr>
              <a:t>DIEGO PLAZA</a:t>
            </a:r>
          </a:p>
          <a:p>
            <a:pPr algn="l" marL="518160" indent="-259080" lvl="1">
              <a:lnSpc>
                <a:spcPts val="2616"/>
              </a:lnSpc>
              <a:buFont typeface="Arial"/>
              <a:buChar char="•"/>
            </a:pPr>
            <a:r>
              <a:rPr lang="en-US" sz="2400">
                <a:solidFill>
                  <a:srgbClr val="2E2E2E"/>
                </a:solidFill>
                <a:latin typeface="TT Chocolates"/>
                <a:ea typeface="TT Chocolates"/>
                <a:cs typeface="TT Chocolates"/>
                <a:sym typeface="TT Chocolates"/>
              </a:rPr>
              <a:t>ALONSO GONZÁLEZ</a:t>
            </a:r>
          </a:p>
        </p:txBody>
      </p:sp>
      <p:sp>
        <p:nvSpPr>
          <p:cNvPr name="TextBox 29" id="29"/>
          <p:cNvSpPr txBox="true"/>
          <p:nvPr/>
        </p:nvSpPr>
        <p:spPr>
          <a:xfrm rot="0">
            <a:off x="5123470" y="7300722"/>
            <a:ext cx="3683120" cy="1309878"/>
          </a:xfrm>
          <a:prstGeom prst="rect">
            <a:avLst/>
          </a:prstGeom>
        </p:spPr>
        <p:txBody>
          <a:bodyPr anchor="t" rtlCol="false" tIns="0" lIns="0" bIns="0" rIns="0">
            <a:spAutoFit/>
          </a:bodyPr>
          <a:lstStyle/>
          <a:p>
            <a:pPr algn="l">
              <a:lnSpc>
                <a:spcPts val="2616"/>
              </a:lnSpc>
            </a:pPr>
            <a:r>
              <a:rPr lang="en-US" sz="2400" b="true">
                <a:solidFill>
                  <a:srgbClr val="2E2E2E"/>
                </a:solidFill>
                <a:latin typeface="TT Chocolates Bold"/>
                <a:ea typeface="TT Chocolates Bold"/>
                <a:cs typeface="TT Chocolates Bold"/>
                <a:sym typeface="TT Chocolates Bold"/>
              </a:rPr>
              <a:t>DOCENTE</a:t>
            </a:r>
          </a:p>
          <a:p>
            <a:pPr algn="l">
              <a:lnSpc>
                <a:spcPts val="2616"/>
              </a:lnSpc>
            </a:pPr>
          </a:p>
          <a:p>
            <a:pPr algn="l">
              <a:lnSpc>
                <a:spcPts val="2616"/>
              </a:lnSpc>
            </a:pPr>
            <a:r>
              <a:rPr lang="en-US" sz="2400">
                <a:solidFill>
                  <a:srgbClr val="2E2E2E"/>
                </a:solidFill>
                <a:latin typeface="TT Chocolates"/>
                <a:ea typeface="TT Chocolates"/>
                <a:cs typeface="TT Chocolates"/>
                <a:sym typeface="TT Chocolates"/>
              </a:rPr>
              <a:t>DOCENTE A CARGO</a:t>
            </a:r>
          </a:p>
          <a:p>
            <a:pPr algn="l" marL="518160" indent="-259080" lvl="1">
              <a:lnSpc>
                <a:spcPts val="2616"/>
              </a:lnSpc>
              <a:buFont typeface="Arial"/>
              <a:buChar char="•"/>
            </a:pPr>
            <a:r>
              <a:rPr lang="en-US" sz="2400">
                <a:solidFill>
                  <a:srgbClr val="2E2E2E"/>
                </a:solidFill>
                <a:latin typeface="TT Chocolates"/>
                <a:ea typeface="TT Chocolates"/>
                <a:cs typeface="TT Chocolates"/>
                <a:sym typeface="TT Chocolates"/>
              </a:rPr>
              <a:t>JULIO TAPIA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1917418">
            <a:off x="-5429666" y="-2674730"/>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44000" y="-653810"/>
            <a:ext cx="9583607" cy="11594620"/>
            <a:chOff x="0" y="0"/>
            <a:chExt cx="2524078" cy="3053727"/>
          </a:xfrm>
        </p:grpSpPr>
        <p:sp>
          <p:nvSpPr>
            <p:cNvPr name="Freeform 4" id="4"/>
            <p:cNvSpPr/>
            <p:nvPr/>
          </p:nvSpPr>
          <p:spPr>
            <a:xfrm flipH="false" flipV="false" rot="0">
              <a:off x="0" y="0"/>
              <a:ext cx="2524078" cy="3053727"/>
            </a:xfrm>
            <a:custGeom>
              <a:avLst/>
              <a:gdLst/>
              <a:ahLst/>
              <a:cxnLst/>
              <a:rect r="r" b="b" t="t" l="l"/>
              <a:pathLst>
                <a:path h="3053727" w="2524078">
                  <a:moveTo>
                    <a:pt x="0" y="0"/>
                  </a:moveTo>
                  <a:lnTo>
                    <a:pt x="2524078" y="0"/>
                  </a:lnTo>
                  <a:lnTo>
                    <a:pt x="2524078" y="3053727"/>
                  </a:lnTo>
                  <a:lnTo>
                    <a:pt x="0" y="3053727"/>
                  </a:lnTo>
                  <a:close/>
                </a:path>
              </a:pathLst>
            </a:custGeom>
            <a:solidFill>
              <a:srgbClr val="FFFFFF"/>
            </a:solidFill>
          </p:spPr>
        </p:sp>
        <p:sp>
          <p:nvSpPr>
            <p:cNvPr name="TextBox 5" id="5"/>
            <p:cNvSpPr txBox="true"/>
            <p:nvPr/>
          </p:nvSpPr>
          <p:spPr>
            <a:xfrm>
              <a:off x="0" y="19050"/>
              <a:ext cx="2524078" cy="3034677"/>
            </a:xfrm>
            <a:prstGeom prst="rect">
              <a:avLst/>
            </a:prstGeom>
          </p:spPr>
          <p:txBody>
            <a:bodyPr anchor="ctr" rtlCol="false" tIns="50800" lIns="50800" bIns="50800" rIns="50800"/>
            <a:lstStyle/>
            <a:p>
              <a:pPr algn="ctr">
                <a:lnSpc>
                  <a:spcPts val="2616"/>
                </a:lnSpc>
              </a:pPr>
            </a:p>
          </p:txBody>
        </p:sp>
      </p:grpSp>
      <p:sp>
        <p:nvSpPr>
          <p:cNvPr name="Freeform 6" id="6"/>
          <p:cNvSpPr/>
          <p:nvPr/>
        </p:nvSpPr>
        <p:spPr>
          <a:xfrm flipH="false" flipV="false" rot="0">
            <a:off x="9144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4"/>
            <a:stretch>
              <a:fillRect l="-50375" t="0" r="0" b="0"/>
            </a:stretch>
          </a:blipFill>
        </p:spPr>
      </p:sp>
      <p:sp>
        <p:nvSpPr>
          <p:cNvPr name="TextBox 7" id="7"/>
          <p:cNvSpPr txBox="true"/>
          <p:nvPr/>
        </p:nvSpPr>
        <p:spPr>
          <a:xfrm rot="0">
            <a:off x="342977" y="1235077"/>
            <a:ext cx="8553516" cy="1279323"/>
          </a:xfrm>
          <a:prstGeom prst="rect">
            <a:avLst/>
          </a:prstGeom>
        </p:spPr>
        <p:txBody>
          <a:bodyPr anchor="t" rtlCol="false" tIns="0" lIns="0" bIns="0" rIns="0">
            <a:spAutoFit/>
          </a:bodyPr>
          <a:lstStyle/>
          <a:p>
            <a:pPr algn="l">
              <a:lnSpc>
                <a:spcPts val="9893"/>
              </a:lnSpc>
            </a:pPr>
            <a:r>
              <a:rPr lang="en-US" sz="9076">
                <a:solidFill>
                  <a:srgbClr val="000000"/>
                </a:solidFill>
                <a:latin typeface="TT Chocolates"/>
                <a:ea typeface="TT Chocolates"/>
                <a:cs typeface="TT Chocolates"/>
                <a:sym typeface="TT Chocolates"/>
              </a:rPr>
              <a:t>INTRODUCCION</a:t>
            </a:r>
          </a:p>
        </p:txBody>
      </p:sp>
      <p:sp>
        <p:nvSpPr>
          <p:cNvPr name="TextBox 8" id="8"/>
          <p:cNvSpPr txBox="true"/>
          <p:nvPr/>
        </p:nvSpPr>
        <p:spPr>
          <a:xfrm rot="0">
            <a:off x="865233" y="3784761"/>
            <a:ext cx="7509002" cy="3067405"/>
          </a:xfrm>
          <a:prstGeom prst="rect">
            <a:avLst/>
          </a:prstGeom>
        </p:spPr>
        <p:txBody>
          <a:bodyPr anchor="t" rtlCol="false" tIns="0" lIns="0" bIns="0" rIns="0">
            <a:spAutoFit/>
          </a:bodyPr>
          <a:lstStyle/>
          <a:p>
            <a:pPr algn="ctr">
              <a:lnSpc>
                <a:spcPts val="3000"/>
              </a:lnSpc>
              <a:spcBef>
                <a:spcPct val="0"/>
              </a:spcBef>
            </a:pPr>
            <a:r>
              <a:rPr lang="en-US" b="true" sz="2752">
                <a:solidFill>
                  <a:srgbClr val="000000"/>
                </a:solidFill>
                <a:latin typeface="TT Chocolates Bold"/>
                <a:ea typeface="TT Chocolates Bold"/>
                <a:cs typeface="TT Chocolates Bold"/>
                <a:sym typeface="TT Chocolates Bold"/>
              </a:rPr>
              <a:t>EMERGEN </a:t>
            </a:r>
            <a:r>
              <a:rPr lang="en-US" sz="2752">
                <a:solidFill>
                  <a:srgbClr val="000000"/>
                </a:solidFill>
                <a:latin typeface="TT Chocolates"/>
                <a:ea typeface="TT Chocolates"/>
                <a:cs typeface="TT Chocolates"/>
                <a:sym typeface="TT Chocolates"/>
              </a:rPr>
              <a:t>se basa en la carencia de herramientas para el socorro efectivo de personas de riesgo.</a:t>
            </a:r>
          </a:p>
          <a:p>
            <a:pPr algn="ctr">
              <a:lnSpc>
                <a:spcPts val="3000"/>
              </a:lnSpc>
              <a:spcBef>
                <a:spcPct val="0"/>
              </a:spcBef>
            </a:pPr>
          </a:p>
          <a:p>
            <a:pPr algn="ctr">
              <a:lnSpc>
                <a:spcPts val="3000"/>
              </a:lnSpc>
              <a:spcBef>
                <a:spcPct val="0"/>
              </a:spcBef>
            </a:pPr>
            <a:r>
              <a:rPr lang="en-US" sz="2752">
                <a:solidFill>
                  <a:srgbClr val="000000"/>
                </a:solidFill>
                <a:latin typeface="TT Chocolates"/>
                <a:ea typeface="TT Chocolates"/>
                <a:cs typeface="TT Chocolates"/>
                <a:sym typeface="TT Chocolates"/>
              </a:rPr>
              <a:t>En base a esto, analizamos el contexto de otras aplicaciones del mismo objetivo, pero descrubrimos que estas no realizaban estas funciones de socorro unificadas, sino que se centraban en emergencias puntuales.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24376">
            <a:off x="-1371437" y="6857699"/>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09252" y="6131391"/>
            <a:ext cx="1473285" cy="2476110"/>
          </a:xfrm>
          <a:custGeom>
            <a:avLst/>
            <a:gdLst/>
            <a:ahLst/>
            <a:cxnLst/>
            <a:rect r="r" b="b" t="t" l="l"/>
            <a:pathLst>
              <a:path h="2476110" w="1473285">
                <a:moveTo>
                  <a:pt x="0" y="0"/>
                </a:moveTo>
                <a:lnTo>
                  <a:pt x="1473286" y="0"/>
                </a:lnTo>
                <a:lnTo>
                  <a:pt x="1473286" y="2476110"/>
                </a:lnTo>
                <a:lnTo>
                  <a:pt x="0" y="24761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65965" y="6246850"/>
            <a:ext cx="3301751" cy="2245191"/>
          </a:xfrm>
          <a:custGeom>
            <a:avLst/>
            <a:gdLst/>
            <a:ahLst/>
            <a:cxnLst/>
            <a:rect r="r" b="b" t="t" l="l"/>
            <a:pathLst>
              <a:path h="2245191" w="3301751">
                <a:moveTo>
                  <a:pt x="0" y="0"/>
                </a:moveTo>
                <a:lnTo>
                  <a:pt x="3301752" y="0"/>
                </a:lnTo>
                <a:lnTo>
                  <a:pt x="3301752" y="2245191"/>
                </a:lnTo>
                <a:lnTo>
                  <a:pt x="0" y="22451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148892" y="6388070"/>
            <a:ext cx="2287440" cy="2207380"/>
          </a:xfrm>
          <a:custGeom>
            <a:avLst/>
            <a:gdLst/>
            <a:ahLst/>
            <a:cxnLst/>
            <a:rect r="r" b="b" t="t" l="l"/>
            <a:pathLst>
              <a:path h="2207380" w="2287440">
                <a:moveTo>
                  <a:pt x="0" y="0"/>
                </a:moveTo>
                <a:lnTo>
                  <a:pt x="2287440" y="0"/>
                </a:lnTo>
                <a:lnTo>
                  <a:pt x="2287440" y="2207380"/>
                </a:lnTo>
                <a:lnTo>
                  <a:pt x="0" y="2207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358346" y="6400121"/>
            <a:ext cx="2746262" cy="2183278"/>
          </a:xfrm>
          <a:custGeom>
            <a:avLst/>
            <a:gdLst/>
            <a:ahLst/>
            <a:cxnLst/>
            <a:rect r="r" b="b" t="t" l="l"/>
            <a:pathLst>
              <a:path h="2183278" w="2746262">
                <a:moveTo>
                  <a:pt x="0" y="0"/>
                </a:moveTo>
                <a:lnTo>
                  <a:pt x="2746262" y="0"/>
                </a:lnTo>
                <a:lnTo>
                  <a:pt x="2746262" y="2183278"/>
                </a:lnTo>
                <a:lnTo>
                  <a:pt x="0" y="21832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5591462" y="997334"/>
            <a:ext cx="7105077" cy="1040130"/>
          </a:xfrm>
          <a:prstGeom prst="rect">
            <a:avLst/>
          </a:prstGeom>
        </p:spPr>
        <p:txBody>
          <a:bodyPr anchor="t" rtlCol="false" tIns="0" lIns="0" bIns="0" rIns="0">
            <a:spAutoFit/>
          </a:bodyPr>
          <a:lstStyle/>
          <a:p>
            <a:pPr algn="l">
              <a:lnSpc>
                <a:spcPts val="9135"/>
              </a:lnSpc>
            </a:pPr>
            <a:r>
              <a:rPr lang="en-US" sz="4500" spc="386">
                <a:solidFill>
                  <a:srgbClr val="000000"/>
                </a:solidFill>
                <a:latin typeface="TT Chocolates"/>
                <a:ea typeface="TT Chocolates"/>
                <a:cs typeface="TT Chocolates"/>
                <a:sym typeface="TT Chocolates"/>
              </a:rPr>
              <a:t>PROPUESTA Y ALCANCE</a:t>
            </a:r>
          </a:p>
        </p:txBody>
      </p:sp>
      <p:sp>
        <p:nvSpPr>
          <p:cNvPr name="TextBox 8" id="8"/>
          <p:cNvSpPr txBox="true"/>
          <p:nvPr/>
        </p:nvSpPr>
        <p:spPr>
          <a:xfrm rot="0">
            <a:off x="2362230" y="2713797"/>
            <a:ext cx="13563541" cy="1924405"/>
          </a:xfrm>
          <a:prstGeom prst="rect">
            <a:avLst/>
          </a:prstGeom>
        </p:spPr>
        <p:txBody>
          <a:bodyPr anchor="t" rtlCol="false" tIns="0" lIns="0" bIns="0" rIns="0">
            <a:spAutoFit/>
          </a:bodyPr>
          <a:lstStyle/>
          <a:p>
            <a:pPr algn="ctr">
              <a:lnSpc>
                <a:spcPts val="3000"/>
              </a:lnSpc>
              <a:spcBef>
                <a:spcPct val="0"/>
              </a:spcBef>
            </a:pPr>
            <a:r>
              <a:rPr lang="en-US" sz="2752">
                <a:solidFill>
                  <a:srgbClr val="000000"/>
                </a:solidFill>
                <a:latin typeface="TT Chocolates"/>
                <a:ea typeface="TT Chocolates"/>
                <a:cs typeface="TT Chocolates"/>
                <a:sym typeface="TT Chocolates"/>
              </a:rPr>
              <a:t>Tomando</a:t>
            </a:r>
            <a:r>
              <a:rPr lang="en-US" sz="2752">
                <a:solidFill>
                  <a:srgbClr val="000000"/>
                </a:solidFill>
                <a:latin typeface="TT Chocolates"/>
                <a:ea typeface="TT Chocolates"/>
                <a:cs typeface="TT Chocolates"/>
                <a:sym typeface="TT Chocolates"/>
              </a:rPr>
              <a:t> en cuenta la problemática, como grupo planteamos el proyecto </a:t>
            </a:r>
            <a:r>
              <a:rPr lang="en-US" b="true" sz="2752">
                <a:solidFill>
                  <a:srgbClr val="000000"/>
                </a:solidFill>
                <a:latin typeface="TT Chocolates Bold"/>
                <a:ea typeface="TT Chocolates Bold"/>
                <a:cs typeface="TT Chocolates Bold"/>
                <a:sym typeface="TT Chocolates Bold"/>
              </a:rPr>
              <a:t>EMERGEN.</a:t>
            </a:r>
          </a:p>
          <a:p>
            <a:pPr algn="ctr">
              <a:lnSpc>
                <a:spcPts val="3000"/>
              </a:lnSpc>
              <a:spcBef>
                <a:spcPct val="0"/>
              </a:spcBef>
            </a:pPr>
          </a:p>
          <a:p>
            <a:pPr algn="ctr">
              <a:lnSpc>
                <a:spcPts val="3000"/>
              </a:lnSpc>
              <a:spcBef>
                <a:spcPct val="0"/>
              </a:spcBef>
            </a:pPr>
            <a:r>
              <a:rPr lang="en-US" sz="2752">
                <a:solidFill>
                  <a:srgbClr val="000000"/>
                </a:solidFill>
                <a:latin typeface="TT Chocolates"/>
                <a:ea typeface="TT Chocolates"/>
                <a:cs typeface="TT Chocolates"/>
                <a:sym typeface="TT Chocolates"/>
              </a:rPr>
              <a:t>Un sistema unificado de emergencia, reduciendo tiempos de espera y entregando una comunicación rápida y efectiva para los contactos del usuario y para los servicios de emergencia. </a:t>
            </a:r>
          </a:p>
        </p:txBody>
      </p:sp>
      <p:sp>
        <p:nvSpPr>
          <p:cNvPr name="TextBox 9" id="9"/>
          <p:cNvSpPr txBox="true"/>
          <p:nvPr/>
        </p:nvSpPr>
        <p:spPr>
          <a:xfrm rot="0">
            <a:off x="2545895" y="5433272"/>
            <a:ext cx="13563541" cy="522351"/>
          </a:xfrm>
          <a:prstGeom prst="rect">
            <a:avLst/>
          </a:prstGeom>
        </p:spPr>
        <p:txBody>
          <a:bodyPr anchor="t" rtlCol="false" tIns="0" lIns="0" bIns="0" rIns="0">
            <a:spAutoFit/>
          </a:bodyPr>
          <a:lstStyle/>
          <a:p>
            <a:pPr algn="ctr">
              <a:lnSpc>
                <a:spcPts val="4032"/>
              </a:lnSpc>
              <a:spcBef>
                <a:spcPct val="0"/>
              </a:spcBef>
            </a:pPr>
            <a:r>
              <a:rPr lang="en-US" sz="3600">
                <a:solidFill>
                  <a:srgbClr val="000000"/>
                </a:solidFill>
                <a:latin typeface="TT Chocolates"/>
                <a:ea typeface="TT Chocolates"/>
                <a:cs typeface="TT Chocolates"/>
                <a:sym typeface="TT Chocolates"/>
              </a:rPr>
              <a:t>Este sistema considerará modalidades de alerta como</a:t>
            </a:r>
          </a:p>
        </p:txBody>
      </p:sp>
      <p:grpSp>
        <p:nvGrpSpPr>
          <p:cNvPr name="Group 10" id="10"/>
          <p:cNvGrpSpPr/>
          <p:nvPr/>
        </p:nvGrpSpPr>
        <p:grpSpPr>
          <a:xfrm rot="0">
            <a:off x="1700293" y="8882685"/>
            <a:ext cx="2926345" cy="1091766"/>
            <a:chOff x="0" y="0"/>
            <a:chExt cx="3901793" cy="1455688"/>
          </a:xfrm>
        </p:grpSpPr>
        <p:sp>
          <p:nvSpPr>
            <p:cNvPr name="TextBox 11" id="11"/>
            <p:cNvSpPr txBox="true"/>
            <p:nvPr/>
          </p:nvSpPr>
          <p:spPr>
            <a:xfrm rot="0">
              <a:off x="0" y="19050"/>
              <a:ext cx="2481121" cy="702818"/>
            </a:xfrm>
            <a:prstGeom prst="rect">
              <a:avLst/>
            </a:prstGeom>
          </p:spPr>
          <p:txBody>
            <a:bodyPr anchor="t" rtlCol="false" tIns="0" lIns="0" bIns="0" rIns="0">
              <a:spAutoFit/>
            </a:bodyPr>
            <a:lstStyle/>
            <a:p>
              <a:pPr algn="l">
                <a:lnSpc>
                  <a:spcPts val="4032"/>
                </a:lnSpc>
              </a:pPr>
              <a:r>
                <a:rPr lang="en-US" sz="3600">
                  <a:solidFill>
                    <a:srgbClr val="000000"/>
                  </a:solidFill>
                  <a:latin typeface="TT Chocolates"/>
                  <a:ea typeface="TT Chocolates"/>
                  <a:cs typeface="TT Chocolates"/>
                  <a:sym typeface="TT Chocolates"/>
                </a:rPr>
                <a:t>URBANO</a:t>
              </a:r>
            </a:p>
          </p:txBody>
        </p:sp>
        <p:sp>
          <p:nvSpPr>
            <p:cNvPr name="TextBox 12" id="12"/>
            <p:cNvSpPr txBox="true"/>
            <p:nvPr/>
          </p:nvSpPr>
          <p:spPr>
            <a:xfrm rot="0">
              <a:off x="0" y="1100088"/>
              <a:ext cx="3901793" cy="355600"/>
            </a:xfrm>
            <a:prstGeom prst="rect">
              <a:avLst/>
            </a:prstGeom>
          </p:spPr>
          <p:txBody>
            <a:bodyPr anchor="t" rtlCol="false" tIns="0" lIns="0" bIns="0" rIns="0">
              <a:spAutoFit/>
            </a:bodyPr>
            <a:lstStyle/>
            <a:p>
              <a:pPr algn="l">
                <a:lnSpc>
                  <a:spcPts val="2160"/>
                </a:lnSpc>
              </a:pPr>
            </a:p>
          </p:txBody>
        </p:sp>
      </p:grpSp>
      <p:grpSp>
        <p:nvGrpSpPr>
          <p:cNvPr name="Group 13" id="13"/>
          <p:cNvGrpSpPr/>
          <p:nvPr/>
        </p:nvGrpSpPr>
        <p:grpSpPr>
          <a:xfrm rot="0">
            <a:off x="5771037" y="8882685"/>
            <a:ext cx="1891607" cy="1091766"/>
            <a:chOff x="0" y="0"/>
            <a:chExt cx="2522143" cy="1455688"/>
          </a:xfrm>
        </p:grpSpPr>
        <p:sp>
          <p:nvSpPr>
            <p:cNvPr name="TextBox 14" id="14"/>
            <p:cNvSpPr txBox="true"/>
            <p:nvPr/>
          </p:nvSpPr>
          <p:spPr>
            <a:xfrm rot="0">
              <a:off x="0" y="19050"/>
              <a:ext cx="2522143" cy="702818"/>
            </a:xfrm>
            <a:prstGeom prst="rect">
              <a:avLst/>
            </a:prstGeom>
          </p:spPr>
          <p:txBody>
            <a:bodyPr anchor="t" rtlCol="false" tIns="0" lIns="0" bIns="0" rIns="0">
              <a:spAutoFit/>
            </a:bodyPr>
            <a:lstStyle/>
            <a:p>
              <a:pPr algn="l">
                <a:lnSpc>
                  <a:spcPts val="4032"/>
                </a:lnSpc>
              </a:pPr>
              <a:r>
                <a:rPr lang="en-US" sz="3600">
                  <a:solidFill>
                    <a:srgbClr val="000000"/>
                  </a:solidFill>
                  <a:latin typeface="TT Chocolates"/>
                  <a:ea typeface="TT Chocolates"/>
                  <a:cs typeface="TT Chocolates"/>
                  <a:sym typeface="TT Chocolates"/>
                </a:rPr>
                <a:t>MÉDICO</a:t>
              </a:r>
            </a:p>
          </p:txBody>
        </p:sp>
        <p:sp>
          <p:nvSpPr>
            <p:cNvPr name="TextBox 15" id="15"/>
            <p:cNvSpPr txBox="true"/>
            <p:nvPr/>
          </p:nvSpPr>
          <p:spPr>
            <a:xfrm rot="0">
              <a:off x="0" y="1100088"/>
              <a:ext cx="2522143" cy="355600"/>
            </a:xfrm>
            <a:prstGeom prst="rect">
              <a:avLst/>
            </a:prstGeom>
          </p:spPr>
          <p:txBody>
            <a:bodyPr anchor="t" rtlCol="false" tIns="0" lIns="0" bIns="0" rIns="0">
              <a:spAutoFit/>
            </a:bodyPr>
            <a:lstStyle/>
            <a:p>
              <a:pPr algn="l">
                <a:lnSpc>
                  <a:spcPts val="2160"/>
                </a:lnSpc>
              </a:pPr>
            </a:p>
          </p:txBody>
        </p:sp>
      </p:grpSp>
      <p:grpSp>
        <p:nvGrpSpPr>
          <p:cNvPr name="Group 16" id="16"/>
          <p:cNvGrpSpPr/>
          <p:nvPr/>
        </p:nvGrpSpPr>
        <p:grpSpPr>
          <a:xfrm rot="0">
            <a:off x="9669852" y="8882685"/>
            <a:ext cx="3559409" cy="1091766"/>
            <a:chOff x="0" y="0"/>
            <a:chExt cx="4745878" cy="1455688"/>
          </a:xfrm>
        </p:grpSpPr>
        <p:sp>
          <p:nvSpPr>
            <p:cNvPr name="TextBox 17" id="17"/>
            <p:cNvSpPr txBox="true"/>
            <p:nvPr/>
          </p:nvSpPr>
          <p:spPr>
            <a:xfrm rot="0">
              <a:off x="0" y="19050"/>
              <a:ext cx="4745878" cy="702818"/>
            </a:xfrm>
            <a:prstGeom prst="rect">
              <a:avLst/>
            </a:prstGeom>
          </p:spPr>
          <p:txBody>
            <a:bodyPr anchor="t" rtlCol="false" tIns="0" lIns="0" bIns="0" rIns="0">
              <a:spAutoFit/>
            </a:bodyPr>
            <a:lstStyle/>
            <a:p>
              <a:pPr algn="l">
                <a:lnSpc>
                  <a:spcPts val="4032"/>
                </a:lnSpc>
              </a:pPr>
              <a:r>
                <a:rPr lang="en-US" sz="3600">
                  <a:solidFill>
                    <a:srgbClr val="000000"/>
                  </a:solidFill>
                  <a:latin typeface="TT Chocolates"/>
                  <a:ea typeface="TT Chocolates"/>
                  <a:cs typeface="TT Chocolates"/>
                  <a:sym typeface="TT Chocolates"/>
                </a:rPr>
                <a:t>ADULTO MAYOR</a:t>
              </a:r>
            </a:p>
          </p:txBody>
        </p:sp>
        <p:sp>
          <p:nvSpPr>
            <p:cNvPr name="TextBox 18" id="18"/>
            <p:cNvSpPr txBox="true"/>
            <p:nvPr/>
          </p:nvSpPr>
          <p:spPr>
            <a:xfrm rot="0">
              <a:off x="0" y="1100088"/>
              <a:ext cx="4745878" cy="355600"/>
            </a:xfrm>
            <a:prstGeom prst="rect">
              <a:avLst/>
            </a:prstGeom>
          </p:spPr>
          <p:txBody>
            <a:bodyPr anchor="t" rtlCol="false" tIns="0" lIns="0" bIns="0" rIns="0">
              <a:spAutoFit/>
            </a:bodyPr>
            <a:lstStyle/>
            <a:p>
              <a:pPr algn="l">
                <a:lnSpc>
                  <a:spcPts val="2160"/>
                </a:lnSpc>
              </a:pPr>
            </a:p>
          </p:txBody>
        </p:sp>
      </p:grpSp>
      <p:grpSp>
        <p:nvGrpSpPr>
          <p:cNvPr name="Group 19" id="19"/>
          <p:cNvGrpSpPr/>
          <p:nvPr/>
        </p:nvGrpSpPr>
        <p:grpSpPr>
          <a:xfrm rot="0">
            <a:off x="14405346" y="8882685"/>
            <a:ext cx="3040849" cy="1091766"/>
            <a:chOff x="0" y="0"/>
            <a:chExt cx="4054465" cy="1455688"/>
          </a:xfrm>
        </p:grpSpPr>
        <p:sp>
          <p:nvSpPr>
            <p:cNvPr name="TextBox 20" id="20"/>
            <p:cNvSpPr txBox="true"/>
            <p:nvPr/>
          </p:nvSpPr>
          <p:spPr>
            <a:xfrm rot="0">
              <a:off x="0" y="19050"/>
              <a:ext cx="4054465" cy="702818"/>
            </a:xfrm>
            <a:prstGeom prst="rect">
              <a:avLst/>
            </a:prstGeom>
          </p:spPr>
          <p:txBody>
            <a:bodyPr anchor="t" rtlCol="false" tIns="0" lIns="0" bIns="0" rIns="0">
              <a:spAutoFit/>
            </a:bodyPr>
            <a:lstStyle/>
            <a:p>
              <a:pPr algn="l">
                <a:lnSpc>
                  <a:spcPts val="4032"/>
                </a:lnSpc>
              </a:pPr>
              <a:r>
                <a:rPr lang="en-US" sz="3600">
                  <a:solidFill>
                    <a:srgbClr val="000000"/>
                  </a:solidFill>
                  <a:latin typeface="TT Chocolates"/>
                  <a:ea typeface="TT Chocolates"/>
                  <a:cs typeface="TT Chocolates"/>
                  <a:sym typeface="TT Chocolates"/>
                </a:rPr>
                <a:t>EMERGENCIA</a:t>
              </a:r>
            </a:p>
          </p:txBody>
        </p:sp>
        <p:sp>
          <p:nvSpPr>
            <p:cNvPr name="TextBox 21" id="21"/>
            <p:cNvSpPr txBox="true"/>
            <p:nvPr/>
          </p:nvSpPr>
          <p:spPr>
            <a:xfrm rot="0">
              <a:off x="0" y="1100088"/>
              <a:ext cx="4054465" cy="355600"/>
            </a:xfrm>
            <a:prstGeom prst="rect">
              <a:avLst/>
            </a:prstGeom>
          </p:spPr>
          <p:txBody>
            <a:bodyPr anchor="t" rtlCol="false" tIns="0" lIns="0" bIns="0" rIns="0">
              <a:spAutoFit/>
            </a:bodyPr>
            <a:lstStyle/>
            <a:p>
              <a:pPr algn="l">
                <a:lnSpc>
                  <a:spcPts val="2160"/>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1917418">
            <a:off x="-4010732" y="394800"/>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77023" y="5419156"/>
            <a:ext cx="4974134" cy="2465604"/>
            <a:chOff x="0" y="0"/>
            <a:chExt cx="1814578" cy="899459"/>
          </a:xfrm>
        </p:grpSpPr>
        <p:sp>
          <p:nvSpPr>
            <p:cNvPr name="Freeform 4" id="4"/>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grpSp>
        <p:nvGrpSpPr>
          <p:cNvPr name="Group 5" id="5"/>
          <p:cNvGrpSpPr/>
          <p:nvPr/>
        </p:nvGrpSpPr>
        <p:grpSpPr>
          <a:xfrm rot="0">
            <a:off x="6656933" y="3949580"/>
            <a:ext cx="4974134" cy="2465604"/>
            <a:chOff x="0" y="0"/>
            <a:chExt cx="1814578" cy="899459"/>
          </a:xfrm>
        </p:grpSpPr>
        <p:sp>
          <p:nvSpPr>
            <p:cNvPr name="Freeform 6" id="6"/>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grpSp>
        <p:nvGrpSpPr>
          <p:cNvPr name="Group 7" id="7"/>
          <p:cNvGrpSpPr/>
          <p:nvPr/>
        </p:nvGrpSpPr>
        <p:grpSpPr>
          <a:xfrm rot="0">
            <a:off x="12285166" y="5438000"/>
            <a:ext cx="4974134" cy="2465604"/>
            <a:chOff x="0" y="0"/>
            <a:chExt cx="1814578" cy="899459"/>
          </a:xfrm>
        </p:grpSpPr>
        <p:sp>
          <p:nvSpPr>
            <p:cNvPr name="Freeform 8" id="8"/>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grpSp>
        <p:nvGrpSpPr>
          <p:cNvPr name="Group 9" id="9"/>
          <p:cNvGrpSpPr/>
          <p:nvPr/>
        </p:nvGrpSpPr>
        <p:grpSpPr>
          <a:xfrm rot="0">
            <a:off x="6581094" y="7329584"/>
            <a:ext cx="4974134" cy="2465604"/>
            <a:chOff x="0" y="0"/>
            <a:chExt cx="1814578" cy="899459"/>
          </a:xfrm>
        </p:grpSpPr>
        <p:sp>
          <p:nvSpPr>
            <p:cNvPr name="Freeform 10" id="10"/>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sp>
        <p:nvSpPr>
          <p:cNvPr name="Freeform 11" id="11"/>
          <p:cNvSpPr/>
          <p:nvPr/>
        </p:nvSpPr>
        <p:spPr>
          <a:xfrm flipH="false" flipV="false" rot="0">
            <a:off x="2569567" y="5845862"/>
            <a:ext cx="1589047" cy="1903050"/>
          </a:xfrm>
          <a:custGeom>
            <a:avLst/>
            <a:gdLst/>
            <a:ahLst/>
            <a:cxnLst/>
            <a:rect r="r" b="b" t="t" l="l"/>
            <a:pathLst>
              <a:path h="1903050" w="1589047">
                <a:moveTo>
                  <a:pt x="0" y="0"/>
                </a:moveTo>
                <a:lnTo>
                  <a:pt x="1589046" y="0"/>
                </a:lnTo>
                <a:lnTo>
                  <a:pt x="1589046" y="1903049"/>
                </a:lnTo>
                <a:lnTo>
                  <a:pt x="0" y="1903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8306241" y="4246125"/>
            <a:ext cx="1675518" cy="2043315"/>
          </a:xfrm>
          <a:custGeom>
            <a:avLst/>
            <a:gdLst/>
            <a:ahLst/>
            <a:cxnLst/>
            <a:rect r="r" b="b" t="t" l="l"/>
            <a:pathLst>
              <a:path h="2043315" w="1675518">
                <a:moveTo>
                  <a:pt x="0" y="0"/>
                </a:moveTo>
                <a:lnTo>
                  <a:pt x="1675518" y="0"/>
                </a:lnTo>
                <a:lnTo>
                  <a:pt x="1675518" y="2043314"/>
                </a:lnTo>
                <a:lnTo>
                  <a:pt x="0" y="20433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4058946" y="5785632"/>
            <a:ext cx="1426574" cy="2023509"/>
          </a:xfrm>
          <a:custGeom>
            <a:avLst/>
            <a:gdLst/>
            <a:ahLst/>
            <a:cxnLst/>
            <a:rect r="r" b="b" t="t" l="l"/>
            <a:pathLst>
              <a:path h="2023509" w="1426574">
                <a:moveTo>
                  <a:pt x="0" y="0"/>
                </a:moveTo>
                <a:lnTo>
                  <a:pt x="1426574" y="0"/>
                </a:lnTo>
                <a:lnTo>
                  <a:pt x="1426574" y="2023509"/>
                </a:lnTo>
                <a:lnTo>
                  <a:pt x="0" y="20235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8196664" y="7748911"/>
            <a:ext cx="1742996" cy="1915380"/>
          </a:xfrm>
          <a:custGeom>
            <a:avLst/>
            <a:gdLst/>
            <a:ahLst/>
            <a:cxnLst/>
            <a:rect r="r" b="b" t="t" l="l"/>
            <a:pathLst>
              <a:path h="1915380" w="1742996">
                <a:moveTo>
                  <a:pt x="0" y="0"/>
                </a:moveTo>
                <a:lnTo>
                  <a:pt x="1742996" y="0"/>
                </a:lnTo>
                <a:lnTo>
                  <a:pt x="1742996" y="1915381"/>
                </a:lnTo>
                <a:lnTo>
                  <a:pt x="0" y="19153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1428202" y="5409425"/>
            <a:ext cx="3871776" cy="32512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Base de Datos</a:t>
            </a:r>
          </a:p>
        </p:txBody>
      </p:sp>
      <p:sp>
        <p:nvSpPr>
          <p:cNvPr name="TextBox 16" id="16"/>
          <p:cNvSpPr txBox="true"/>
          <p:nvPr/>
        </p:nvSpPr>
        <p:spPr>
          <a:xfrm rot="0">
            <a:off x="7132274" y="3921005"/>
            <a:ext cx="3871776" cy="32512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Desarrollo</a:t>
            </a:r>
          </a:p>
        </p:txBody>
      </p:sp>
      <p:sp>
        <p:nvSpPr>
          <p:cNvPr name="TextBox 17" id="17"/>
          <p:cNvSpPr txBox="true"/>
          <p:nvPr/>
        </p:nvSpPr>
        <p:spPr>
          <a:xfrm rot="0">
            <a:off x="12902582" y="5409425"/>
            <a:ext cx="3739302" cy="32512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Testing y QA</a:t>
            </a:r>
          </a:p>
        </p:txBody>
      </p:sp>
      <p:sp>
        <p:nvSpPr>
          <p:cNvPr name="TextBox 18" id="18"/>
          <p:cNvSpPr txBox="true"/>
          <p:nvPr/>
        </p:nvSpPr>
        <p:spPr>
          <a:xfrm rot="0">
            <a:off x="952862" y="1103469"/>
            <a:ext cx="16230600" cy="2113216"/>
          </a:xfrm>
          <a:prstGeom prst="rect">
            <a:avLst/>
          </a:prstGeom>
        </p:spPr>
        <p:txBody>
          <a:bodyPr anchor="t" rtlCol="false" tIns="0" lIns="0" bIns="0" rIns="0">
            <a:spAutoFit/>
          </a:bodyPr>
          <a:lstStyle/>
          <a:p>
            <a:pPr algn="ctr">
              <a:lnSpc>
                <a:spcPts val="8526"/>
              </a:lnSpc>
            </a:pPr>
            <a:r>
              <a:rPr lang="en-US" sz="4200" spc="361">
                <a:solidFill>
                  <a:srgbClr val="000000"/>
                </a:solidFill>
                <a:latin typeface="TT Chocolates"/>
                <a:ea typeface="TT Chocolates"/>
                <a:cs typeface="TT Chocolates"/>
                <a:sym typeface="TT Chocolates"/>
              </a:rPr>
              <a:t>JUSTIFICACIÓN CON PERFIL DE EGRESO</a:t>
            </a:r>
          </a:p>
          <a:p>
            <a:pPr algn="ctr">
              <a:lnSpc>
                <a:spcPts val="9135"/>
              </a:lnSpc>
            </a:pPr>
          </a:p>
        </p:txBody>
      </p:sp>
      <p:sp>
        <p:nvSpPr>
          <p:cNvPr name="TextBox 19" id="19"/>
          <p:cNvSpPr txBox="true"/>
          <p:nvPr/>
        </p:nvSpPr>
        <p:spPr>
          <a:xfrm rot="0">
            <a:off x="2303503" y="2151480"/>
            <a:ext cx="13529316" cy="1196975"/>
          </a:xfrm>
          <a:prstGeom prst="rect">
            <a:avLst/>
          </a:prstGeom>
        </p:spPr>
        <p:txBody>
          <a:bodyPr anchor="t" rtlCol="false" tIns="0" lIns="0" bIns="0" rIns="0">
            <a:spAutoFit/>
          </a:bodyPr>
          <a:lstStyle/>
          <a:p>
            <a:pPr algn="ctr">
              <a:lnSpc>
                <a:spcPts val="3174"/>
              </a:lnSpc>
              <a:spcBef>
                <a:spcPct val="0"/>
              </a:spcBef>
            </a:pPr>
            <a:r>
              <a:rPr lang="en-US" sz="2499">
                <a:solidFill>
                  <a:srgbClr val="000000"/>
                </a:solidFill>
                <a:latin typeface="TT Chocolates"/>
                <a:ea typeface="TT Chocolates"/>
                <a:cs typeface="TT Chocolates"/>
                <a:sym typeface="TT Chocolates"/>
              </a:rPr>
              <a:t>El proyecto tambien se adhiere al perfil de egreso de manera que se aplican las competencias desarrolladas durante la carrera, esto se refleja en el proyecto ya que dentro del equipo y desarrollo se consideran las siguientes competencias:</a:t>
            </a:r>
          </a:p>
        </p:txBody>
      </p:sp>
      <p:sp>
        <p:nvSpPr>
          <p:cNvPr name="TextBox 20" id="20"/>
          <p:cNvSpPr txBox="true"/>
          <p:nvPr/>
        </p:nvSpPr>
        <p:spPr>
          <a:xfrm rot="0">
            <a:off x="7132274" y="7301009"/>
            <a:ext cx="3871776" cy="32512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Documentación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8374462">
            <a:off x="-7345701" y="4605309"/>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8604965">
            <a:off x="370494" y="-4408372"/>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368999"/>
            <a:ext cx="16230600" cy="976502"/>
          </a:xfrm>
          <a:prstGeom prst="rect">
            <a:avLst/>
          </a:prstGeom>
        </p:spPr>
        <p:txBody>
          <a:bodyPr anchor="t" rtlCol="false" tIns="0" lIns="0" bIns="0" rIns="0">
            <a:spAutoFit/>
          </a:bodyPr>
          <a:lstStyle/>
          <a:p>
            <a:pPr algn="ctr">
              <a:lnSpc>
                <a:spcPts val="8526"/>
              </a:lnSpc>
            </a:pPr>
            <a:r>
              <a:rPr lang="en-US" sz="4200" spc="361">
                <a:solidFill>
                  <a:srgbClr val="000000"/>
                </a:solidFill>
                <a:latin typeface="TT Chocolates"/>
                <a:ea typeface="TT Chocolates"/>
                <a:cs typeface="TT Chocolates"/>
                <a:sym typeface="TT Chocolates"/>
              </a:rPr>
              <a:t>FUNCIONALIDAD Y ENTREGABLES</a:t>
            </a:r>
          </a:p>
        </p:txBody>
      </p:sp>
      <p:sp>
        <p:nvSpPr>
          <p:cNvPr name="TextBox 5" id="5"/>
          <p:cNvSpPr txBox="true"/>
          <p:nvPr/>
        </p:nvSpPr>
        <p:spPr>
          <a:xfrm rot="0">
            <a:off x="2362230" y="1979298"/>
            <a:ext cx="13563541" cy="400405"/>
          </a:xfrm>
          <a:prstGeom prst="rect">
            <a:avLst/>
          </a:prstGeom>
        </p:spPr>
        <p:txBody>
          <a:bodyPr anchor="t" rtlCol="false" tIns="0" lIns="0" bIns="0" rIns="0">
            <a:spAutoFit/>
          </a:bodyPr>
          <a:lstStyle/>
          <a:p>
            <a:pPr algn="ctr">
              <a:lnSpc>
                <a:spcPts val="3000"/>
              </a:lnSpc>
              <a:spcBef>
                <a:spcPct val="0"/>
              </a:spcBef>
            </a:pPr>
            <a:r>
              <a:rPr lang="en-US" sz="2752">
                <a:solidFill>
                  <a:srgbClr val="000000"/>
                </a:solidFill>
                <a:latin typeface="TT Chocolates"/>
                <a:ea typeface="TT Chocolates"/>
                <a:cs typeface="TT Chocolates"/>
                <a:sym typeface="TT Chocolates"/>
              </a:rPr>
              <a:t>L</a:t>
            </a:r>
            <a:r>
              <a:rPr lang="en-US" sz="2752">
                <a:solidFill>
                  <a:srgbClr val="000000"/>
                </a:solidFill>
                <a:latin typeface="TT Chocolates"/>
                <a:ea typeface="TT Chocolates"/>
                <a:cs typeface="TT Chocolates"/>
                <a:sym typeface="TT Chocolates"/>
              </a:rPr>
              <a:t>a construcción de este aplicativo informático considerará los siguientes entregables:</a:t>
            </a:r>
          </a:p>
        </p:txBody>
      </p:sp>
      <p:grpSp>
        <p:nvGrpSpPr>
          <p:cNvPr name="Group 6" id="6"/>
          <p:cNvGrpSpPr/>
          <p:nvPr/>
        </p:nvGrpSpPr>
        <p:grpSpPr>
          <a:xfrm rot="0">
            <a:off x="1028700" y="2840371"/>
            <a:ext cx="4974134" cy="2465604"/>
            <a:chOff x="0" y="0"/>
            <a:chExt cx="1814578" cy="899459"/>
          </a:xfrm>
        </p:grpSpPr>
        <p:sp>
          <p:nvSpPr>
            <p:cNvPr name="Freeform 7" id="7"/>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grpSp>
        <p:nvGrpSpPr>
          <p:cNvPr name="Group 8" id="8"/>
          <p:cNvGrpSpPr/>
          <p:nvPr/>
        </p:nvGrpSpPr>
        <p:grpSpPr>
          <a:xfrm rot="0">
            <a:off x="1028700" y="6232709"/>
            <a:ext cx="4974134" cy="2465604"/>
            <a:chOff x="0" y="0"/>
            <a:chExt cx="1814578" cy="899459"/>
          </a:xfrm>
        </p:grpSpPr>
        <p:sp>
          <p:nvSpPr>
            <p:cNvPr name="Freeform 9" id="9"/>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grpSp>
        <p:nvGrpSpPr>
          <p:cNvPr name="Group 10" id="10"/>
          <p:cNvGrpSpPr/>
          <p:nvPr/>
        </p:nvGrpSpPr>
        <p:grpSpPr>
          <a:xfrm rot="0">
            <a:off x="6656933" y="2840371"/>
            <a:ext cx="4974134" cy="2465604"/>
            <a:chOff x="0" y="0"/>
            <a:chExt cx="1814578" cy="899459"/>
          </a:xfrm>
        </p:grpSpPr>
        <p:sp>
          <p:nvSpPr>
            <p:cNvPr name="Freeform 11" id="11"/>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grpSp>
        <p:nvGrpSpPr>
          <p:cNvPr name="Group 12" id="12"/>
          <p:cNvGrpSpPr/>
          <p:nvPr/>
        </p:nvGrpSpPr>
        <p:grpSpPr>
          <a:xfrm rot="0">
            <a:off x="12669813" y="2840371"/>
            <a:ext cx="4974134" cy="2465604"/>
            <a:chOff x="0" y="0"/>
            <a:chExt cx="1814578" cy="899459"/>
          </a:xfrm>
        </p:grpSpPr>
        <p:sp>
          <p:nvSpPr>
            <p:cNvPr name="Freeform 13" id="13"/>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grpSp>
        <p:nvGrpSpPr>
          <p:cNvPr name="Group 14" id="14"/>
          <p:cNvGrpSpPr/>
          <p:nvPr/>
        </p:nvGrpSpPr>
        <p:grpSpPr>
          <a:xfrm rot="0">
            <a:off x="6656933" y="6232709"/>
            <a:ext cx="4974134" cy="2465604"/>
            <a:chOff x="0" y="0"/>
            <a:chExt cx="1814578" cy="899459"/>
          </a:xfrm>
        </p:grpSpPr>
        <p:sp>
          <p:nvSpPr>
            <p:cNvPr name="Freeform 15" id="15"/>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grpSp>
        <p:nvGrpSpPr>
          <p:cNvPr name="Group 16" id="16"/>
          <p:cNvGrpSpPr/>
          <p:nvPr/>
        </p:nvGrpSpPr>
        <p:grpSpPr>
          <a:xfrm rot="0">
            <a:off x="12669813" y="6232709"/>
            <a:ext cx="4974134" cy="2465604"/>
            <a:chOff x="0" y="0"/>
            <a:chExt cx="1814578" cy="899459"/>
          </a:xfrm>
        </p:grpSpPr>
        <p:sp>
          <p:nvSpPr>
            <p:cNvPr name="Freeform 17" id="17"/>
            <p:cNvSpPr/>
            <p:nvPr/>
          </p:nvSpPr>
          <p:spPr>
            <a:xfrm flipH="false" flipV="false" rot="0">
              <a:off x="0" y="0"/>
              <a:ext cx="1814578" cy="899459"/>
            </a:xfrm>
            <a:custGeom>
              <a:avLst/>
              <a:gdLst/>
              <a:ahLst/>
              <a:cxnLst/>
              <a:rect r="r" b="b" t="t" l="l"/>
              <a:pathLst>
                <a:path h="899459" w="1814578">
                  <a:moveTo>
                    <a:pt x="1690118" y="899459"/>
                  </a:moveTo>
                  <a:lnTo>
                    <a:pt x="124460" y="899459"/>
                  </a:lnTo>
                  <a:cubicBezTo>
                    <a:pt x="55880" y="899459"/>
                    <a:pt x="0" y="843579"/>
                    <a:pt x="0" y="774999"/>
                  </a:cubicBezTo>
                  <a:lnTo>
                    <a:pt x="0" y="124460"/>
                  </a:lnTo>
                  <a:cubicBezTo>
                    <a:pt x="0" y="55880"/>
                    <a:pt x="55880" y="0"/>
                    <a:pt x="124460" y="0"/>
                  </a:cubicBezTo>
                  <a:lnTo>
                    <a:pt x="1690118" y="0"/>
                  </a:lnTo>
                  <a:cubicBezTo>
                    <a:pt x="1758698" y="0"/>
                    <a:pt x="1814578" y="55880"/>
                    <a:pt x="1814578" y="124460"/>
                  </a:cubicBezTo>
                  <a:lnTo>
                    <a:pt x="1814578" y="774999"/>
                  </a:lnTo>
                  <a:cubicBezTo>
                    <a:pt x="1814578" y="843579"/>
                    <a:pt x="1758698" y="899459"/>
                    <a:pt x="1690118" y="899459"/>
                  </a:cubicBezTo>
                  <a:close/>
                </a:path>
              </a:pathLst>
            </a:custGeom>
            <a:solidFill>
              <a:srgbClr val="FFFFFF"/>
            </a:solidFill>
          </p:spPr>
        </p:sp>
      </p:grpSp>
      <p:sp>
        <p:nvSpPr>
          <p:cNvPr name="TextBox 18" id="18"/>
          <p:cNvSpPr txBox="true"/>
          <p:nvPr/>
        </p:nvSpPr>
        <p:spPr>
          <a:xfrm rot="0">
            <a:off x="1533245" y="3149565"/>
            <a:ext cx="3965044" cy="178054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Docum</a:t>
            </a:r>
            <a:r>
              <a:rPr lang="en-US" sz="3399">
                <a:solidFill>
                  <a:srgbClr val="000000"/>
                </a:solidFill>
                <a:latin typeface="Open Sans"/>
                <a:ea typeface="Open Sans"/>
                <a:cs typeface="Open Sans"/>
                <a:sym typeface="Open Sans"/>
              </a:rPr>
              <a:t>entación completa del sistema</a:t>
            </a:r>
          </a:p>
        </p:txBody>
      </p:sp>
      <p:sp>
        <p:nvSpPr>
          <p:cNvPr name="TextBox 19" id="19"/>
          <p:cNvSpPr txBox="true"/>
          <p:nvPr/>
        </p:nvSpPr>
        <p:spPr>
          <a:xfrm rot="0">
            <a:off x="1533245" y="6841940"/>
            <a:ext cx="3965044" cy="1180465"/>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Sc</a:t>
            </a:r>
            <a:r>
              <a:rPr lang="en-US" sz="3399">
                <a:solidFill>
                  <a:srgbClr val="000000"/>
                </a:solidFill>
                <a:latin typeface="Open Sans"/>
                <a:ea typeface="Open Sans"/>
                <a:cs typeface="Open Sans"/>
                <a:sym typeface="Open Sans"/>
              </a:rPr>
              <a:t>ript completo de la base de datos</a:t>
            </a:r>
          </a:p>
        </p:txBody>
      </p:sp>
      <p:sp>
        <p:nvSpPr>
          <p:cNvPr name="TextBox 20" id="20"/>
          <p:cNvSpPr txBox="true"/>
          <p:nvPr/>
        </p:nvSpPr>
        <p:spPr>
          <a:xfrm rot="0">
            <a:off x="7161478" y="3749640"/>
            <a:ext cx="3965044"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Aplicación Web</a:t>
            </a:r>
          </a:p>
        </p:txBody>
      </p:sp>
      <p:sp>
        <p:nvSpPr>
          <p:cNvPr name="TextBox 21" id="21"/>
          <p:cNvSpPr txBox="true"/>
          <p:nvPr/>
        </p:nvSpPr>
        <p:spPr>
          <a:xfrm rot="0">
            <a:off x="7161478" y="7141978"/>
            <a:ext cx="3965044"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Aplicación Móvil</a:t>
            </a:r>
          </a:p>
        </p:txBody>
      </p:sp>
      <p:sp>
        <p:nvSpPr>
          <p:cNvPr name="TextBox 22" id="22"/>
          <p:cNvSpPr txBox="true"/>
          <p:nvPr/>
        </p:nvSpPr>
        <p:spPr>
          <a:xfrm rot="0">
            <a:off x="13174358" y="3449602"/>
            <a:ext cx="3965044" cy="1180465"/>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Aplicación Escritorio</a:t>
            </a:r>
          </a:p>
        </p:txBody>
      </p:sp>
      <p:sp>
        <p:nvSpPr>
          <p:cNvPr name="TextBox 23" id="23"/>
          <p:cNvSpPr txBox="true"/>
          <p:nvPr/>
        </p:nvSpPr>
        <p:spPr>
          <a:xfrm rot="0">
            <a:off x="13174358" y="6841940"/>
            <a:ext cx="3965044" cy="1180465"/>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Funcion</a:t>
            </a:r>
            <a:r>
              <a:rPr lang="en-US" sz="3399">
                <a:solidFill>
                  <a:srgbClr val="000000"/>
                </a:solidFill>
                <a:latin typeface="Open Sans"/>
                <a:ea typeface="Open Sans"/>
                <a:cs typeface="Open Sans"/>
                <a:sym typeface="Open Sans"/>
              </a:rPr>
              <a:t>amiento Completo de los RF</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24376">
            <a:off x="-2506663" y="2961491"/>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94308" y="1728887"/>
            <a:ext cx="11499384" cy="6829226"/>
          </a:xfrm>
          <a:custGeom>
            <a:avLst/>
            <a:gdLst/>
            <a:ahLst/>
            <a:cxnLst/>
            <a:rect r="r" b="b" t="t" l="l"/>
            <a:pathLst>
              <a:path h="6829226" w="11499384">
                <a:moveTo>
                  <a:pt x="0" y="0"/>
                </a:moveTo>
                <a:lnTo>
                  <a:pt x="11499384" y="0"/>
                </a:lnTo>
                <a:lnTo>
                  <a:pt x="11499384" y="6829226"/>
                </a:lnTo>
                <a:lnTo>
                  <a:pt x="0" y="6829226"/>
                </a:lnTo>
                <a:lnTo>
                  <a:pt x="0" y="0"/>
                </a:lnTo>
                <a:close/>
              </a:path>
            </a:pathLst>
          </a:custGeom>
          <a:blipFill>
            <a:blip r:embed="rId4"/>
            <a:stretch>
              <a:fillRect l="0" t="0" r="0" b="0"/>
            </a:stretch>
          </a:blipFill>
        </p:spPr>
      </p:sp>
      <p:sp>
        <p:nvSpPr>
          <p:cNvPr name="TextBox 4" id="4"/>
          <p:cNvSpPr txBox="true"/>
          <p:nvPr/>
        </p:nvSpPr>
        <p:spPr>
          <a:xfrm rot="0">
            <a:off x="1028700" y="381000"/>
            <a:ext cx="16230600" cy="1040130"/>
          </a:xfrm>
          <a:prstGeom prst="rect">
            <a:avLst/>
          </a:prstGeom>
        </p:spPr>
        <p:txBody>
          <a:bodyPr anchor="t" rtlCol="false" tIns="0" lIns="0" bIns="0" rIns="0">
            <a:spAutoFit/>
          </a:bodyPr>
          <a:lstStyle/>
          <a:p>
            <a:pPr algn="ctr">
              <a:lnSpc>
                <a:spcPts val="9135"/>
              </a:lnSpc>
            </a:pPr>
            <a:r>
              <a:rPr lang="en-US" sz="4500" spc="386">
                <a:solidFill>
                  <a:srgbClr val="000000"/>
                </a:solidFill>
                <a:latin typeface="TT Chocolates"/>
                <a:ea typeface="TT Chocolates"/>
                <a:cs typeface="TT Chocolates"/>
                <a:sym typeface="TT Chocolates"/>
              </a:rPr>
              <a:t>REQUERIMIENTOS FUNCIONALES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24376">
            <a:off x="-2506663" y="2961491"/>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33310" y="3664325"/>
            <a:ext cx="12988369" cy="2958349"/>
          </a:xfrm>
          <a:custGeom>
            <a:avLst/>
            <a:gdLst/>
            <a:ahLst/>
            <a:cxnLst/>
            <a:rect r="r" b="b" t="t" l="l"/>
            <a:pathLst>
              <a:path h="2958349" w="12988369">
                <a:moveTo>
                  <a:pt x="0" y="0"/>
                </a:moveTo>
                <a:lnTo>
                  <a:pt x="12988369" y="0"/>
                </a:lnTo>
                <a:lnTo>
                  <a:pt x="12988369" y="2958350"/>
                </a:lnTo>
                <a:lnTo>
                  <a:pt x="0" y="2958350"/>
                </a:lnTo>
                <a:lnTo>
                  <a:pt x="0" y="0"/>
                </a:lnTo>
                <a:close/>
              </a:path>
            </a:pathLst>
          </a:custGeom>
          <a:blipFill>
            <a:blip r:embed="rId4"/>
            <a:stretch>
              <a:fillRect l="0" t="0" r="0" b="0"/>
            </a:stretch>
          </a:blipFill>
        </p:spPr>
      </p:sp>
      <p:sp>
        <p:nvSpPr>
          <p:cNvPr name="TextBox 4" id="4"/>
          <p:cNvSpPr txBox="true"/>
          <p:nvPr/>
        </p:nvSpPr>
        <p:spPr>
          <a:xfrm rot="0">
            <a:off x="1028700" y="857515"/>
            <a:ext cx="16230600" cy="1040130"/>
          </a:xfrm>
          <a:prstGeom prst="rect">
            <a:avLst/>
          </a:prstGeom>
        </p:spPr>
        <p:txBody>
          <a:bodyPr anchor="t" rtlCol="false" tIns="0" lIns="0" bIns="0" rIns="0">
            <a:spAutoFit/>
          </a:bodyPr>
          <a:lstStyle/>
          <a:p>
            <a:pPr algn="ctr">
              <a:lnSpc>
                <a:spcPts val="9135"/>
              </a:lnSpc>
            </a:pPr>
            <a:r>
              <a:rPr lang="en-US" sz="4500" spc="386">
                <a:solidFill>
                  <a:srgbClr val="000000"/>
                </a:solidFill>
                <a:latin typeface="TT Chocolates"/>
                <a:ea typeface="TT Chocolates"/>
                <a:cs typeface="TT Chocolates"/>
                <a:sym typeface="TT Chocolates"/>
              </a:rPr>
              <a:t>REQUERIMIENTOS NO FUNCIONALES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8771908">
            <a:off x="6359936" y="-2803798"/>
            <a:ext cx="15036821" cy="5461256"/>
          </a:xfrm>
          <a:custGeom>
            <a:avLst/>
            <a:gdLst/>
            <a:ahLst/>
            <a:cxnLst/>
            <a:rect r="r" b="b" t="t" l="l"/>
            <a:pathLst>
              <a:path h="5461256" w="15036821">
                <a:moveTo>
                  <a:pt x="15036821" y="0"/>
                </a:moveTo>
                <a:lnTo>
                  <a:pt x="0" y="0"/>
                </a:lnTo>
                <a:lnTo>
                  <a:pt x="0" y="5461256"/>
                </a:lnTo>
                <a:lnTo>
                  <a:pt x="15036821" y="5461256"/>
                </a:lnTo>
                <a:lnTo>
                  <a:pt x="150368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3136533">
            <a:off x="-4021445" y="-5040573"/>
            <a:ext cx="15036821" cy="5461256"/>
          </a:xfrm>
          <a:custGeom>
            <a:avLst/>
            <a:gdLst/>
            <a:ahLst/>
            <a:cxnLst/>
            <a:rect r="r" b="b" t="t" l="l"/>
            <a:pathLst>
              <a:path h="5461256" w="15036821">
                <a:moveTo>
                  <a:pt x="15036821" y="0"/>
                </a:moveTo>
                <a:lnTo>
                  <a:pt x="0" y="0"/>
                </a:lnTo>
                <a:lnTo>
                  <a:pt x="0" y="5461256"/>
                </a:lnTo>
                <a:lnTo>
                  <a:pt x="15036821" y="5461256"/>
                </a:lnTo>
                <a:lnTo>
                  <a:pt x="150368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789616" y="1562148"/>
            <a:ext cx="4177462" cy="4114800"/>
          </a:xfrm>
          <a:custGeom>
            <a:avLst/>
            <a:gdLst/>
            <a:ahLst/>
            <a:cxnLst/>
            <a:rect r="r" b="b" t="t" l="l"/>
            <a:pathLst>
              <a:path h="4114800" w="4177462">
                <a:moveTo>
                  <a:pt x="0" y="0"/>
                </a:moveTo>
                <a:lnTo>
                  <a:pt x="4177462" y="0"/>
                </a:lnTo>
                <a:lnTo>
                  <a:pt x="417746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62741" y="7056191"/>
            <a:ext cx="1732227" cy="1732227"/>
          </a:xfrm>
          <a:custGeom>
            <a:avLst/>
            <a:gdLst/>
            <a:ahLst/>
            <a:cxnLst/>
            <a:rect r="r" b="b" t="t" l="l"/>
            <a:pathLst>
              <a:path h="1732227" w="1732227">
                <a:moveTo>
                  <a:pt x="0" y="0"/>
                </a:moveTo>
                <a:lnTo>
                  <a:pt x="1732227" y="0"/>
                </a:lnTo>
                <a:lnTo>
                  <a:pt x="1732227" y="1732227"/>
                </a:lnTo>
                <a:lnTo>
                  <a:pt x="0" y="17322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459443" y="7056191"/>
            <a:ext cx="1391692" cy="1697186"/>
          </a:xfrm>
          <a:custGeom>
            <a:avLst/>
            <a:gdLst/>
            <a:ahLst/>
            <a:cxnLst/>
            <a:rect r="r" b="b" t="t" l="l"/>
            <a:pathLst>
              <a:path h="1697186" w="1391692">
                <a:moveTo>
                  <a:pt x="0" y="0"/>
                </a:moveTo>
                <a:lnTo>
                  <a:pt x="1391692" y="0"/>
                </a:lnTo>
                <a:lnTo>
                  <a:pt x="1391692" y="1697185"/>
                </a:lnTo>
                <a:lnTo>
                  <a:pt x="0" y="16971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2565143" y="7056191"/>
            <a:ext cx="2781102" cy="2838710"/>
          </a:xfrm>
          <a:custGeom>
            <a:avLst/>
            <a:gdLst/>
            <a:ahLst/>
            <a:cxnLst/>
            <a:rect r="r" b="b" t="t" l="l"/>
            <a:pathLst>
              <a:path h="2838710" w="2781102">
                <a:moveTo>
                  <a:pt x="0" y="0"/>
                </a:moveTo>
                <a:lnTo>
                  <a:pt x="2781101" y="0"/>
                </a:lnTo>
                <a:lnTo>
                  <a:pt x="2781101" y="2838710"/>
                </a:lnTo>
                <a:lnTo>
                  <a:pt x="0" y="2838710"/>
                </a:lnTo>
                <a:lnTo>
                  <a:pt x="0" y="0"/>
                </a:lnTo>
                <a:close/>
              </a:path>
            </a:pathLst>
          </a:custGeom>
          <a:blipFill>
            <a:blip r:embed="rId10"/>
            <a:stretch>
              <a:fillRect l="0" t="0" r="-277005" b="0"/>
            </a:stretch>
          </a:blipFill>
        </p:spPr>
      </p:sp>
      <p:sp>
        <p:nvSpPr>
          <p:cNvPr name="TextBox 8" id="8"/>
          <p:cNvSpPr txBox="true"/>
          <p:nvPr/>
        </p:nvSpPr>
        <p:spPr>
          <a:xfrm rot="0">
            <a:off x="1028700" y="2344258"/>
            <a:ext cx="8960382" cy="3197225"/>
          </a:xfrm>
          <a:prstGeom prst="rect">
            <a:avLst/>
          </a:prstGeom>
        </p:spPr>
        <p:txBody>
          <a:bodyPr anchor="t" rtlCol="false" tIns="0" lIns="0" bIns="0" rIns="0">
            <a:spAutoFit/>
          </a:bodyPr>
          <a:lstStyle/>
          <a:p>
            <a:pPr algn="just">
              <a:lnSpc>
                <a:spcPts val="3174"/>
              </a:lnSpc>
            </a:pPr>
            <a:r>
              <a:rPr lang="en-US" sz="2499">
                <a:solidFill>
                  <a:srgbClr val="000000"/>
                </a:solidFill>
                <a:latin typeface="TT Chocolates"/>
                <a:ea typeface="TT Chocolates"/>
                <a:cs typeface="TT Chocolates"/>
                <a:sym typeface="TT Chocolates"/>
              </a:rPr>
              <a:t>Se utiliza la metodología SCRUM, ya que consideramos que mitiga la incertidumbre al dividir el trabajo en Sprints de duración definida, integrando también el control de riesgos al confeccionar un Product Backlog.</a:t>
            </a:r>
          </a:p>
          <a:p>
            <a:pPr algn="just">
              <a:lnSpc>
                <a:spcPts val="3174"/>
              </a:lnSpc>
            </a:pPr>
            <a:r>
              <a:rPr lang="en-US" sz="2499">
                <a:solidFill>
                  <a:srgbClr val="000000"/>
                </a:solidFill>
                <a:latin typeface="TT Chocolates"/>
                <a:ea typeface="TT Chocolates"/>
                <a:cs typeface="TT Chocolates"/>
                <a:sym typeface="TT Chocolates"/>
              </a:rPr>
              <a:t>Además, esta nos permite garantizar la entrega de evidencias para las revisiones con el Product Owner, lo que nos ayuda a alinear el proyecto y mantener la visión general del mismo</a:t>
            </a:r>
          </a:p>
          <a:p>
            <a:pPr algn="just">
              <a:lnSpc>
                <a:spcPts val="3174"/>
              </a:lnSpc>
              <a:spcBef>
                <a:spcPct val="0"/>
              </a:spcBef>
            </a:pPr>
          </a:p>
        </p:txBody>
      </p:sp>
      <p:sp>
        <p:nvSpPr>
          <p:cNvPr name="TextBox 9" id="9"/>
          <p:cNvSpPr txBox="true"/>
          <p:nvPr/>
        </p:nvSpPr>
        <p:spPr>
          <a:xfrm rot="0">
            <a:off x="456496" y="861108"/>
            <a:ext cx="10104790" cy="1040130"/>
          </a:xfrm>
          <a:prstGeom prst="rect">
            <a:avLst/>
          </a:prstGeom>
        </p:spPr>
        <p:txBody>
          <a:bodyPr anchor="t" rtlCol="false" tIns="0" lIns="0" bIns="0" rIns="0">
            <a:spAutoFit/>
          </a:bodyPr>
          <a:lstStyle/>
          <a:p>
            <a:pPr algn="ctr">
              <a:lnSpc>
                <a:spcPts val="9135"/>
              </a:lnSpc>
            </a:pPr>
            <a:r>
              <a:rPr lang="en-US" sz="4500" spc="386">
                <a:solidFill>
                  <a:srgbClr val="000000"/>
                </a:solidFill>
                <a:latin typeface="TT Chocolates"/>
                <a:ea typeface="TT Chocolates"/>
                <a:cs typeface="TT Chocolates"/>
                <a:sym typeface="TT Chocolates"/>
              </a:rPr>
              <a:t>METODOLOGÍA Y SU FINALIDAD</a:t>
            </a:r>
          </a:p>
        </p:txBody>
      </p:sp>
      <p:sp>
        <p:nvSpPr>
          <p:cNvPr name="TextBox 10" id="10"/>
          <p:cNvSpPr txBox="true"/>
          <p:nvPr/>
        </p:nvSpPr>
        <p:spPr>
          <a:xfrm rot="0">
            <a:off x="2137715" y="6130875"/>
            <a:ext cx="6742353" cy="702941"/>
          </a:xfrm>
          <a:prstGeom prst="rect">
            <a:avLst/>
          </a:prstGeom>
        </p:spPr>
        <p:txBody>
          <a:bodyPr anchor="t" rtlCol="false" tIns="0" lIns="0" bIns="0" rIns="0">
            <a:spAutoFit/>
          </a:bodyPr>
          <a:lstStyle/>
          <a:p>
            <a:pPr algn="ctr">
              <a:lnSpc>
                <a:spcPts val="6090"/>
              </a:lnSpc>
            </a:pPr>
            <a:r>
              <a:rPr lang="en-US" b="true" sz="3000" spc="258">
                <a:solidFill>
                  <a:srgbClr val="000000"/>
                </a:solidFill>
                <a:latin typeface="TT Chocolates Bold"/>
                <a:ea typeface="TT Chocolates Bold"/>
                <a:cs typeface="TT Chocolates Bold"/>
                <a:sym typeface="TT Chocolates Bold"/>
              </a:rPr>
              <a:t>Los roles dentro del equipo son:</a:t>
            </a:r>
          </a:p>
        </p:txBody>
      </p:sp>
      <p:sp>
        <p:nvSpPr>
          <p:cNvPr name="TextBox 11" id="11"/>
          <p:cNvSpPr txBox="true"/>
          <p:nvPr/>
        </p:nvSpPr>
        <p:spPr>
          <a:xfrm rot="0">
            <a:off x="1028700" y="9115496"/>
            <a:ext cx="2200309" cy="796925"/>
          </a:xfrm>
          <a:prstGeom prst="rect">
            <a:avLst/>
          </a:prstGeom>
        </p:spPr>
        <p:txBody>
          <a:bodyPr anchor="t" rtlCol="false" tIns="0" lIns="0" bIns="0" rIns="0">
            <a:spAutoFit/>
          </a:bodyPr>
          <a:lstStyle/>
          <a:p>
            <a:pPr algn="ctr">
              <a:lnSpc>
                <a:spcPts val="3174"/>
              </a:lnSpc>
            </a:pPr>
            <a:r>
              <a:rPr lang="en-US" sz="2499">
                <a:solidFill>
                  <a:srgbClr val="000000"/>
                </a:solidFill>
                <a:latin typeface="TT Chocolates"/>
                <a:ea typeface="TT Chocolates"/>
                <a:cs typeface="TT Chocolates"/>
                <a:sym typeface="TT Chocolates"/>
              </a:rPr>
              <a:t>Scrum Master</a:t>
            </a:r>
          </a:p>
          <a:p>
            <a:pPr algn="ctr">
              <a:lnSpc>
                <a:spcPts val="3174"/>
              </a:lnSpc>
            </a:pPr>
            <a:r>
              <a:rPr lang="en-US" sz="2499">
                <a:solidFill>
                  <a:srgbClr val="000000"/>
                </a:solidFill>
                <a:latin typeface="TT Chocolates"/>
                <a:ea typeface="TT Chocolates"/>
                <a:cs typeface="TT Chocolates"/>
                <a:sym typeface="TT Chocolates"/>
              </a:rPr>
              <a:t>Gabriel Valencia</a:t>
            </a:r>
          </a:p>
        </p:txBody>
      </p:sp>
      <p:sp>
        <p:nvSpPr>
          <p:cNvPr name="TextBox 12" id="12"/>
          <p:cNvSpPr txBox="true"/>
          <p:nvPr/>
        </p:nvSpPr>
        <p:spPr>
          <a:xfrm rot="0">
            <a:off x="6053539" y="9097976"/>
            <a:ext cx="4203499" cy="796925"/>
          </a:xfrm>
          <a:prstGeom prst="rect">
            <a:avLst/>
          </a:prstGeom>
        </p:spPr>
        <p:txBody>
          <a:bodyPr anchor="t" rtlCol="false" tIns="0" lIns="0" bIns="0" rIns="0">
            <a:spAutoFit/>
          </a:bodyPr>
          <a:lstStyle/>
          <a:p>
            <a:pPr algn="ctr">
              <a:lnSpc>
                <a:spcPts val="3174"/>
              </a:lnSpc>
            </a:pPr>
            <a:r>
              <a:rPr lang="en-US" sz="2499">
                <a:solidFill>
                  <a:srgbClr val="000000"/>
                </a:solidFill>
                <a:latin typeface="TT Chocolates"/>
                <a:ea typeface="TT Chocolates"/>
                <a:cs typeface="TT Chocolates"/>
                <a:sym typeface="TT Chocolates"/>
              </a:rPr>
              <a:t>Equipo Desarrollo</a:t>
            </a:r>
          </a:p>
          <a:p>
            <a:pPr algn="ctr">
              <a:lnSpc>
                <a:spcPts val="3174"/>
              </a:lnSpc>
            </a:pPr>
            <a:r>
              <a:rPr lang="en-US" sz="2499">
                <a:solidFill>
                  <a:srgbClr val="000000"/>
                </a:solidFill>
                <a:latin typeface="TT Chocolates"/>
                <a:ea typeface="TT Chocolates"/>
                <a:cs typeface="TT Chocolates"/>
                <a:sym typeface="TT Chocolates"/>
              </a:rPr>
              <a:t>Diego Plaza/Alonso González</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grpSp>
        <p:nvGrpSpPr>
          <p:cNvPr name="Group 2" id="2"/>
          <p:cNvGrpSpPr/>
          <p:nvPr/>
        </p:nvGrpSpPr>
        <p:grpSpPr>
          <a:xfrm rot="0">
            <a:off x="1028700" y="2574083"/>
            <a:ext cx="4974134" cy="3320527"/>
            <a:chOff x="0" y="0"/>
            <a:chExt cx="1814578" cy="1211337"/>
          </a:xfrm>
        </p:grpSpPr>
        <p:sp>
          <p:nvSpPr>
            <p:cNvPr name="Freeform 3" id="3"/>
            <p:cNvSpPr/>
            <p:nvPr/>
          </p:nvSpPr>
          <p:spPr>
            <a:xfrm flipH="false" flipV="false" rot="0">
              <a:off x="0" y="0"/>
              <a:ext cx="1814578" cy="1211337"/>
            </a:xfrm>
            <a:custGeom>
              <a:avLst/>
              <a:gdLst/>
              <a:ahLst/>
              <a:cxnLst/>
              <a:rect r="r" b="b" t="t" l="l"/>
              <a:pathLst>
                <a:path h="1211337" w="1814578">
                  <a:moveTo>
                    <a:pt x="1690118" y="1211337"/>
                  </a:moveTo>
                  <a:lnTo>
                    <a:pt x="124460" y="1211337"/>
                  </a:lnTo>
                  <a:cubicBezTo>
                    <a:pt x="55880" y="1211337"/>
                    <a:pt x="0" y="1155457"/>
                    <a:pt x="0" y="1086877"/>
                  </a:cubicBezTo>
                  <a:lnTo>
                    <a:pt x="0" y="124460"/>
                  </a:lnTo>
                  <a:cubicBezTo>
                    <a:pt x="0" y="55880"/>
                    <a:pt x="55880" y="0"/>
                    <a:pt x="124460" y="0"/>
                  </a:cubicBezTo>
                  <a:lnTo>
                    <a:pt x="1690118" y="0"/>
                  </a:lnTo>
                  <a:cubicBezTo>
                    <a:pt x="1758698" y="0"/>
                    <a:pt x="1814578" y="55880"/>
                    <a:pt x="1814578" y="124460"/>
                  </a:cubicBezTo>
                  <a:lnTo>
                    <a:pt x="1814578" y="1086877"/>
                  </a:lnTo>
                  <a:cubicBezTo>
                    <a:pt x="1814578" y="1155457"/>
                    <a:pt x="1758698" y="1211337"/>
                    <a:pt x="1690118" y="1211337"/>
                  </a:cubicBezTo>
                  <a:close/>
                </a:path>
              </a:pathLst>
            </a:custGeom>
            <a:solidFill>
              <a:srgbClr val="FFFFFF"/>
            </a:solidFill>
          </p:spPr>
        </p:sp>
      </p:grpSp>
      <p:sp>
        <p:nvSpPr>
          <p:cNvPr name="Freeform 4" id="4"/>
          <p:cNvSpPr/>
          <p:nvPr/>
        </p:nvSpPr>
        <p:spPr>
          <a:xfrm flipH="false" flipV="false" rot="0">
            <a:off x="2789928" y="3291821"/>
            <a:ext cx="1451679" cy="1233927"/>
          </a:xfrm>
          <a:custGeom>
            <a:avLst/>
            <a:gdLst/>
            <a:ahLst/>
            <a:cxnLst/>
            <a:rect r="r" b="b" t="t" l="l"/>
            <a:pathLst>
              <a:path h="1233927" w="1451679">
                <a:moveTo>
                  <a:pt x="0" y="0"/>
                </a:moveTo>
                <a:lnTo>
                  <a:pt x="1451678" y="0"/>
                </a:lnTo>
                <a:lnTo>
                  <a:pt x="1451678" y="1233927"/>
                </a:lnTo>
                <a:lnTo>
                  <a:pt x="0" y="12339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656933" y="6048070"/>
            <a:ext cx="4974134" cy="3320527"/>
            <a:chOff x="0" y="0"/>
            <a:chExt cx="1814578" cy="1211337"/>
          </a:xfrm>
        </p:grpSpPr>
        <p:sp>
          <p:nvSpPr>
            <p:cNvPr name="Freeform 6" id="6"/>
            <p:cNvSpPr/>
            <p:nvPr/>
          </p:nvSpPr>
          <p:spPr>
            <a:xfrm flipH="false" flipV="false" rot="0">
              <a:off x="0" y="0"/>
              <a:ext cx="1814578" cy="1211337"/>
            </a:xfrm>
            <a:custGeom>
              <a:avLst/>
              <a:gdLst/>
              <a:ahLst/>
              <a:cxnLst/>
              <a:rect r="r" b="b" t="t" l="l"/>
              <a:pathLst>
                <a:path h="1211337" w="1814578">
                  <a:moveTo>
                    <a:pt x="1690118" y="1211337"/>
                  </a:moveTo>
                  <a:lnTo>
                    <a:pt x="124460" y="1211337"/>
                  </a:lnTo>
                  <a:cubicBezTo>
                    <a:pt x="55880" y="1211337"/>
                    <a:pt x="0" y="1155457"/>
                    <a:pt x="0" y="1086877"/>
                  </a:cubicBezTo>
                  <a:lnTo>
                    <a:pt x="0" y="124460"/>
                  </a:lnTo>
                  <a:cubicBezTo>
                    <a:pt x="0" y="55880"/>
                    <a:pt x="55880" y="0"/>
                    <a:pt x="124460" y="0"/>
                  </a:cubicBezTo>
                  <a:lnTo>
                    <a:pt x="1690118" y="0"/>
                  </a:lnTo>
                  <a:cubicBezTo>
                    <a:pt x="1758698" y="0"/>
                    <a:pt x="1814578" y="55880"/>
                    <a:pt x="1814578" y="124460"/>
                  </a:cubicBezTo>
                  <a:lnTo>
                    <a:pt x="1814578" y="1086877"/>
                  </a:lnTo>
                  <a:cubicBezTo>
                    <a:pt x="1814578" y="1155457"/>
                    <a:pt x="1758698" y="1211337"/>
                    <a:pt x="1690118" y="1211337"/>
                  </a:cubicBezTo>
                  <a:close/>
                </a:path>
              </a:pathLst>
            </a:custGeom>
            <a:solidFill>
              <a:srgbClr val="FFFFFF"/>
            </a:solidFill>
          </p:spPr>
        </p:sp>
      </p:grpSp>
      <p:grpSp>
        <p:nvGrpSpPr>
          <p:cNvPr name="Group 7" id="7"/>
          <p:cNvGrpSpPr/>
          <p:nvPr/>
        </p:nvGrpSpPr>
        <p:grpSpPr>
          <a:xfrm rot="0">
            <a:off x="12285166" y="2574083"/>
            <a:ext cx="4974134" cy="3320527"/>
            <a:chOff x="0" y="0"/>
            <a:chExt cx="1814578" cy="1211337"/>
          </a:xfrm>
        </p:grpSpPr>
        <p:sp>
          <p:nvSpPr>
            <p:cNvPr name="Freeform 8" id="8"/>
            <p:cNvSpPr/>
            <p:nvPr/>
          </p:nvSpPr>
          <p:spPr>
            <a:xfrm flipH="false" flipV="false" rot="0">
              <a:off x="0" y="0"/>
              <a:ext cx="1814578" cy="1211337"/>
            </a:xfrm>
            <a:custGeom>
              <a:avLst/>
              <a:gdLst/>
              <a:ahLst/>
              <a:cxnLst/>
              <a:rect r="r" b="b" t="t" l="l"/>
              <a:pathLst>
                <a:path h="1211337" w="1814578">
                  <a:moveTo>
                    <a:pt x="1690118" y="1211337"/>
                  </a:moveTo>
                  <a:lnTo>
                    <a:pt x="124460" y="1211337"/>
                  </a:lnTo>
                  <a:cubicBezTo>
                    <a:pt x="55880" y="1211337"/>
                    <a:pt x="0" y="1155457"/>
                    <a:pt x="0" y="1086877"/>
                  </a:cubicBezTo>
                  <a:lnTo>
                    <a:pt x="0" y="124460"/>
                  </a:lnTo>
                  <a:cubicBezTo>
                    <a:pt x="0" y="55880"/>
                    <a:pt x="55880" y="0"/>
                    <a:pt x="124460" y="0"/>
                  </a:cubicBezTo>
                  <a:lnTo>
                    <a:pt x="1690118" y="0"/>
                  </a:lnTo>
                  <a:cubicBezTo>
                    <a:pt x="1758698" y="0"/>
                    <a:pt x="1814578" y="55880"/>
                    <a:pt x="1814578" y="124460"/>
                  </a:cubicBezTo>
                  <a:lnTo>
                    <a:pt x="1814578" y="1086877"/>
                  </a:lnTo>
                  <a:cubicBezTo>
                    <a:pt x="1814578" y="1155457"/>
                    <a:pt x="1758698" y="1211337"/>
                    <a:pt x="1690118" y="1211337"/>
                  </a:cubicBezTo>
                  <a:close/>
                </a:path>
              </a:pathLst>
            </a:custGeom>
            <a:solidFill>
              <a:srgbClr val="FFFFFF"/>
            </a:solidFill>
          </p:spPr>
        </p:sp>
      </p:grpSp>
      <p:sp>
        <p:nvSpPr>
          <p:cNvPr name="Freeform 9" id="9"/>
          <p:cNvSpPr/>
          <p:nvPr/>
        </p:nvSpPr>
        <p:spPr>
          <a:xfrm flipH="false" flipV="false" rot="0">
            <a:off x="8537735" y="6751245"/>
            <a:ext cx="1212530" cy="1263052"/>
          </a:xfrm>
          <a:custGeom>
            <a:avLst/>
            <a:gdLst/>
            <a:ahLst/>
            <a:cxnLst/>
            <a:rect r="r" b="b" t="t" l="l"/>
            <a:pathLst>
              <a:path h="1263052" w="1212530">
                <a:moveTo>
                  <a:pt x="0" y="0"/>
                </a:moveTo>
                <a:lnTo>
                  <a:pt x="1212530" y="0"/>
                </a:lnTo>
                <a:lnTo>
                  <a:pt x="1212530" y="1263052"/>
                </a:lnTo>
                <a:lnTo>
                  <a:pt x="0" y="1263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995229" y="3318261"/>
            <a:ext cx="1554007" cy="1181046"/>
          </a:xfrm>
          <a:custGeom>
            <a:avLst/>
            <a:gdLst/>
            <a:ahLst/>
            <a:cxnLst/>
            <a:rect r="r" b="b" t="t" l="l"/>
            <a:pathLst>
              <a:path h="1181046" w="1554007">
                <a:moveTo>
                  <a:pt x="0" y="0"/>
                </a:moveTo>
                <a:lnTo>
                  <a:pt x="1554008" y="0"/>
                </a:lnTo>
                <a:lnTo>
                  <a:pt x="1554008" y="1181046"/>
                </a:lnTo>
                <a:lnTo>
                  <a:pt x="0" y="11810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5135970" y="187049"/>
            <a:ext cx="8016061" cy="2192655"/>
          </a:xfrm>
          <a:prstGeom prst="rect">
            <a:avLst/>
          </a:prstGeom>
        </p:spPr>
        <p:txBody>
          <a:bodyPr anchor="t" rtlCol="false" tIns="0" lIns="0" bIns="0" rIns="0">
            <a:spAutoFit/>
          </a:bodyPr>
          <a:lstStyle/>
          <a:p>
            <a:pPr algn="l">
              <a:lnSpc>
                <a:spcPts val="9135"/>
              </a:lnSpc>
            </a:pPr>
            <a:r>
              <a:rPr lang="en-US" sz="4500" spc="386">
                <a:solidFill>
                  <a:srgbClr val="000000"/>
                </a:solidFill>
                <a:latin typeface="TT Chocolates"/>
                <a:ea typeface="TT Chocolates"/>
                <a:cs typeface="TT Chocolates"/>
                <a:sym typeface="TT Chocolates"/>
              </a:rPr>
              <a:t>AMBIENTE DE DESARROLLO</a:t>
            </a:r>
          </a:p>
          <a:p>
            <a:pPr algn="l">
              <a:lnSpc>
                <a:spcPts val="9135"/>
              </a:lnSpc>
            </a:pPr>
          </a:p>
        </p:txBody>
      </p:sp>
      <p:sp>
        <p:nvSpPr>
          <p:cNvPr name="TextBox 12" id="12"/>
          <p:cNvSpPr txBox="true"/>
          <p:nvPr/>
        </p:nvSpPr>
        <p:spPr>
          <a:xfrm rot="0">
            <a:off x="2362230" y="1628920"/>
            <a:ext cx="13563541" cy="400405"/>
          </a:xfrm>
          <a:prstGeom prst="rect">
            <a:avLst/>
          </a:prstGeom>
        </p:spPr>
        <p:txBody>
          <a:bodyPr anchor="t" rtlCol="false" tIns="0" lIns="0" bIns="0" rIns="0">
            <a:spAutoFit/>
          </a:bodyPr>
          <a:lstStyle/>
          <a:p>
            <a:pPr algn="ctr">
              <a:lnSpc>
                <a:spcPts val="3000"/>
              </a:lnSpc>
              <a:spcBef>
                <a:spcPct val="0"/>
              </a:spcBef>
            </a:pPr>
            <a:r>
              <a:rPr lang="en-US" sz="2752">
                <a:solidFill>
                  <a:srgbClr val="000000"/>
                </a:solidFill>
                <a:latin typeface="TT Chocolates"/>
                <a:ea typeface="TT Chocolates"/>
                <a:cs typeface="TT Chocolates"/>
                <a:sym typeface="TT Chocolates"/>
              </a:rPr>
              <a:t>Para el desarrollo de las aplicaciónes se considerara:</a:t>
            </a:r>
          </a:p>
        </p:txBody>
      </p:sp>
      <p:sp>
        <p:nvSpPr>
          <p:cNvPr name="TextBox 13" id="13"/>
          <p:cNvSpPr txBox="true"/>
          <p:nvPr/>
        </p:nvSpPr>
        <p:spPr>
          <a:xfrm rot="0">
            <a:off x="1579879" y="2713072"/>
            <a:ext cx="3871776" cy="32512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Frontend y Backend</a:t>
            </a:r>
          </a:p>
        </p:txBody>
      </p:sp>
      <p:sp>
        <p:nvSpPr>
          <p:cNvPr name="TextBox 14" id="14"/>
          <p:cNvSpPr txBox="true"/>
          <p:nvPr/>
        </p:nvSpPr>
        <p:spPr>
          <a:xfrm rot="0">
            <a:off x="1302931" y="4798427"/>
            <a:ext cx="4425673" cy="926820"/>
          </a:xfrm>
          <a:prstGeom prst="rect">
            <a:avLst/>
          </a:prstGeom>
        </p:spPr>
        <p:txBody>
          <a:bodyPr anchor="t" rtlCol="false" tIns="0" lIns="0" bIns="0" rIns="0">
            <a:spAutoFit/>
          </a:bodyPr>
          <a:lstStyle/>
          <a:p>
            <a:pPr algn="ctr">
              <a:lnSpc>
                <a:spcPts val="2455"/>
              </a:lnSpc>
            </a:pPr>
            <a:r>
              <a:rPr lang="en-US" sz="2252">
                <a:solidFill>
                  <a:srgbClr val="000000"/>
                </a:solidFill>
                <a:latin typeface="TT Chocolates"/>
                <a:ea typeface="TT Chocolates"/>
                <a:cs typeface="TT Chocolates"/>
                <a:sym typeface="TT Chocolates"/>
              </a:rPr>
              <a:t>Desarrollo con TypeScript, Ionic (React/Angular)</a:t>
            </a:r>
          </a:p>
          <a:p>
            <a:pPr algn="ctr">
              <a:lnSpc>
                <a:spcPts val="2455"/>
              </a:lnSpc>
              <a:spcBef>
                <a:spcPct val="0"/>
              </a:spcBef>
            </a:pPr>
            <a:r>
              <a:rPr lang="en-US" sz="2252">
                <a:solidFill>
                  <a:srgbClr val="000000"/>
                </a:solidFill>
                <a:latin typeface="TT Chocolates"/>
                <a:ea typeface="TT Chocolates"/>
                <a:cs typeface="TT Chocolates"/>
                <a:sym typeface="TT Chocolates"/>
              </a:rPr>
              <a:t>Node.js + Nest.js para las APIs</a:t>
            </a:r>
          </a:p>
        </p:txBody>
      </p:sp>
      <p:sp>
        <p:nvSpPr>
          <p:cNvPr name="TextBox 15" id="15"/>
          <p:cNvSpPr txBox="true"/>
          <p:nvPr/>
        </p:nvSpPr>
        <p:spPr>
          <a:xfrm rot="0">
            <a:off x="7208112" y="6187059"/>
            <a:ext cx="3871776" cy="32512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Exportación de Aplicación Móvil</a:t>
            </a:r>
          </a:p>
        </p:txBody>
      </p:sp>
      <p:sp>
        <p:nvSpPr>
          <p:cNvPr name="TextBox 16" id="16"/>
          <p:cNvSpPr txBox="true"/>
          <p:nvPr/>
        </p:nvSpPr>
        <p:spPr>
          <a:xfrm rot="0">
            <a:off x="6931164" y="8272414"/>
            <a:ext cx="4425673" cy="926820"/>
          </a:xfrm>
          <a:prstGeom prst="rect">
            <a:avLst/>
          </a:prstGeom>
        </p:spPr>
        <p:txBody>
          <a:bodyPr anchor="t" rtlCol="false" tIns="0" lIns="0" bIns="0" rIns="0">
            <a:spAutoFit/>
          </a:bodyPr>
          <a:lstStyle/>
          <a:p>
            <a:pPr algn="ctr">
              <a:lnSpc>
                <a:spcPts val="2455"/>
              </a:lnSpc>
              <a:spcBef>
                <a:spcPct val="0"/>
              </a:spcBef>
            </a:pPr>
            <a:r>
              <a:rPr lang="en-US" sz="2252">
                <a:solidFill>
                  <a:srgbClr val="000000"/>
                </a:solidFill>
                <a:latin typeface="TT Chocolates"/>
                <a:ea typeface="TT Chocolates"/>
                <a:cs typeface="TT Chocolates"/>
                <a:sym typeface="TT Chocolates"/>
              </a:rPr>
              <a:t>Se usa Ionic + Capacitor para exportar la pagina web y compilar la aplicación movil</a:t>
            </a:r>
          </a:p>
        </p:txBody>
      </p:sp>
      <p:sp>
        <p:nvSpPr>
          <p:cNvPr name="TextBox 17" id="17"/>
          <p:cNvSpPr txBox="true"/>
          <p:nvPr/>
        </p:nvSpPr>
        <p:spPr>
          <a:xfrm rot="0">
            <a:off x="12464944" y="2709526"/>
            <a:ext cx="4614578" cy="32512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Exportación de Aplicación de Escritorio</a:t>
            </a:r>
          </a:p>
        </p:txBody>
      </p:sp>
      <p:sp>
        <p:nvSpPr>
          <p:cNvPr name="TextBox 18" id="18"/>
          <p:cNvSpPr txBox="true"/>
          <p:nvPr/>
        </p:nvSpPr>
        <p:spPr>
          <a:xfrm rot="0">
            <a:off x="12559397" y="4662990"/>
            <a:ext cx="4425673" cy="1231620"/>
          </a:xfrm>
          <a:prstGeom prst="rect">
            <a:avLst/>
          </a:prstGeom>
        </p:spPr>
        <p:txBody>
          <a:bodyPr anchor="t" rtlCol="false" tIns="0" lIns="0" bIns="0" rIns="0">
            <a:spAutoFit/>
          </a:bodyPr>
          <a:lstStyle/>
          <a:p>
            <a:pPr algn="ctr">
              <a:lnSpc>
                <a:spcPts val="2455"/>
              </a:lnSpc>
              <a:spcBef>
                <a:spcPct val="0"/>
              </a:spcBef>
            </a:pPr>
            <a:r>
              <a:rPr lang="en-US" sz="2252">
                <a:solidFill>
                  <a:srgbClr val="000000"/>
                </a:solidFill>
                <a:latin typeface="TT Chocolates"/>
                <a:ea typeface="TT Chocolates"/>
                <a:cs typeface="TT Chocolates"/>
                <a:sym typeface="TT Chocolates"/>
              </a:rPr>
              <a:t>Electron para exportar la pagina web como aplicación de escritorio de uso administrativo, asegurando su codigo gracias a TurboRepo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2116180" y="-864694"/>
            <a:ext cx="14528641" cy="5276689"/>
          </a:xfrm>
          <a:custGeom>
            <a:avLst/>
            <a:gdLst/>
            <a:ahLst/>
            <a:cxnLst/>
            <a:rect r="r" b="b" t="t" l="l"/>
            <a:pathLst>
              <a:path h="5276689" w="14528641">
                <a:moveTo>
                  <a:pt x="14528641" y="0"/>
                </a:moveTo>
                <a:lnTo>
                  <a:pt x="0" y="0"/>
                </a:lnTo>
                <a:lnTo>
                  <a:pt x="0" y="5276689"/>
                </a:lnTo>
                <a:lnTo>
                  <a:pt x="14528641" y="5276689"/>
                </a:lnTo>
                <a:lnTo>
                  <a:pt x="145286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738943" y="0"/>
            <a:ext cx="9549057" cy="10287000"/>
          </a:xfrm>
          <a:custGeom>
            <a:avLst/>
            <a:gdLst/>
            <a:ahLst/>
            <a:cxnLst/>
            <a:rect r="r" b="b" t="t" l="l"/>
            <a:pathLst>
              <a:path h="10287000" w="9549057">
                <a:moveTo>
                  <a:pt x="0" y="0"/>
                </a:moveTo>
                <a:lnTo>
                  <a:pt x="9549057" y="0"/>
                </a:lnTo>
                <a:lnTo>
                  <a:pt x="9549057" y="10287000"/>
                </a:lnTo>
                <a:lnTo>
                  <a:pt x="0" y="10287000"/>
                </a:lnTo>
                <a:lnTo>
                  <a:pt x="0" y="0"/>
                </a:lnTo>
                <a:close/>
              </a:path>
            </a:pathLst>
          </a:custGeom>
          <a:blipFill>
            <a:blip r:embed="rId4"/>
            <a:stretch>
              <a:fillRect l="0" t="-889" r="0" b="-889"/>
            </a:stretch>
          </a:blipFill>
        </p:spPr>
      </p:sp>
      <p:sp>
        <p:nvSpPr>
          <p:cNvPr name="Freeform 4" id="4"/>
          <p:cNvSpPr/>
          <p:nvPr/>
        </p:nvSpPr>
        <p:spPr>
          <a:xfrm flipH="false" flipV="false" rot="0">
            <a:off x="1173740" y="3968291"/>
            <a:ext cx="6073865" cy="6162535"/>
          </a:xfrm>
          <a:custGeom>
            <a:avLst/>
            <a:gdLst/>
            <a:ahLst/>
            <a:cxnLst/>
            <a:rect r="r" b="b" t="t" l="l"/>
            <a:pathLst>
              <a:path h="6162535" w="6073865">
                <a:moveTo>
                  <a:pt x="0" y="0"/>
                </a:moveTo>
                <a:lnTo>
                  <a:pt x="6073865" y="0"/>
                </a:lnTo>
                <a:lnTo>
                  <a:pt x="6073865" y="6162535"/>
                </a:lnTo>
                <a:lnTo>
                  <a:pt x="0" y="6162535"/>
                </a:lnTo>
                <a:lnTo>
                  <a:pt x="0" y="0"/>
                </a:lnTo>
                <a:close/>
              </a:path>
            </a:pathLst>
          </a:custGeom>
          <a:blipFill>
            <a:blip r:embed="rId5"/>
            <a:stretch>
              <a:fillRect l="0" t="0" r="0" b="0"/>
            </a:stretch>
          </a:blipFill>
        </p:spPr>
      </p:sp>
      <p:sp>
        <p:nvSpPr>
          <p:cNvPr name="TextBox 5" id="5"/>
          <p:cNvSpPr txBox="true"/>
          <p:nvPr/>
        </p:nvSpPr>
        <p:spPr>
          <a:xfrm rot="0">
            <a:off x="1291927" y="971550"/>
            <a:ext cx="5837490" cy="1118870"/>
          </a:xfrm>
          <a:prstGeom prst="rect">
            <a:avLst/>
          </a:prstGeom>
        </p:spPr>
        <p:txBody>
          <a:bodyPr anchor="t" rtlCol="false" tIns="0" lIns="0" bIns="0" rIns="0">
            <a:spAutoFit/>
          </a:bodyPr>
          <a:lstStyle/>
          <a:p>
            <a:pPr algn="ctr">
              <a:lnSpc>
                <a:spcPts val="8889"/>
              </a:lnSpc>
            </a:pPr>
            <a:r>
              <a:rPr lang="en-US" b="true" sz="6999">
                <a:solidFill>
                  <a:srgbClr val="000000"/>
                </a:solidFill>
                <a:latin typeface="TT Chocolates Bold"/>
                <a:ea typeface="TT Chocolates Bold"/>
                <a:cs typeface="TT Chocolates Bold"/>
                <a:sym typeface="TT Chocolates Bold"/>
              </a:rPr>
              <a:t>Modelo ER</a:t>
            </a:r>
          </a:p>
        </p:txBody>
      </p:sp>
      <p:sp>
        <p:nvSpPr>
          <p:cNvPr name="TextBox 6" id="6"/>
          <p:cNvSpPr txBox="true"/>
          <p:nvPr/>
        </p:nvSpPr>
        <p:spPr>
          <a:xfrm rot="0">
            <a:off x="1711924" y="3334276"/>
            <a:ext cx="4997497" cy="506831"/>
          </a:xfrm>
          <a:prstGeom prst="rect">
            <a:avLst/>
          </a:prstGeom>
        </p:spPr>
        <p:txBody>
          <a:bodyPr anchor="t" rtlCol="false" tIns="0" lIns="0" bIns="0" rIns="0">
            <a:spAutoFit/>
          </a:bodyPr>
          <a:lstStyle/>
          <a:p>
            <a:pPr algn="ctr">
              <a:lnSpc>
                <a:spcPts val="3872"/>
              </a:lnSpc>
              <a:spcBef>
                <a:spcPct val="0"/>
              </a:spcBef>
            </a:pPr>
            <a:r>
              <a:rPr lang="en-US" sz="3552">
                <a:solidFill>
                  <a:srgbClr val="000000"/>
                </a:solidFill>
                <a:latin typeface="TT Chocolates"/>
                <a:ea typeface="TT Chocolates"/>
                <a:cs typeface="TT Chocolates"/>
                <a:sym typeface="TT Chocolates"/>
              </a:rPr>
              <a:t>Para mejor visualización: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0" y="1151015"/>
            <a:ext cx="16711107" cy="6069343"/>
          </a:xfrm>
          <a:custGeom>
            <a:avLst/>
            <a:gdLst/>
            <a:ahLst/>
            <a:cxnLst/>
            <a:rect r="r" b="b" t="t" l="l"/>
            <a:pathLst>
              <a:path h="6069343" w="16711107">
                <a:moveTo>
                  <a:pt x="16711107" y="0"/>
                </a:moveTo>
                <a:lnTo>
                  <a:pt x="0" y="0"/>
                </a:lnTo>
                <a:lnTo>
                  <a:pt x="0" y="6069343"/>
                </a:lnTo>
                <a:lnTo>
                  <a:pt x="16711107" y="6069343"/>
                </a:lnTo>
                <a:lnTo>
                  <a:pt x="167111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2898716"/>
            <a:ext cx="18288000" cy="6057616"/>
          </a:xfrm>
          <a:custGeom>
            <a:avLst/>
            <a:gdLst/>
            <a:ahLst/>
            <a:cxnLst/>
            <a:rect r="r" b="b" t="t" l="l"/>
            <a:pathLst>
              <a:path h="6057616" w="18288000">
                <a:moveTo>
                  <a:pt x="0" y="0"/>
                </a:moveTo>
                <a:lnTo>
                  <a:pt x="18288000" y="0"/>
                </a:lnTo>
                <a:lnTo>
                  <a:pt x="18288000" y="6057616"/>
                </a:lnTo>
                <a:lnTo>
                  <a:pt x="0" y="6057616"/>
                </a:lnTo>
                <a:lnTo>
                  <a:pt x="0" y="0"/>
                </a:lnTo>
                <a:close/>
              </a:path>
            </a:pathLst>
          </a:custGeom>
          <a:blipFill>
            <a:blip r:embed="rId4"/>
            <a:stretch>
              <a:fillRect l="0" t="0" r="-8048" b="0"/>
            </a:stretch>
          </a:blipFill>
        </p:spPr>
      </p:sp>
      <p:sp>
        <p:nvSpPr>
          <p:cNvPr name="TextBox 4" id="4"/>
          <p:cNvSpPr txBox="true"/>
          <p:nvPr/>
        </p:nvSpPr>
        <p:spPr>
          <a:xfrm rot="0">
            <a:off x="6573461" y="971550"/>
            <a:ext cx="5141079" cy="965835"/>
          </a:xfrm>
          <a:prstGeom prst="rect">
            <a:avLst/>
          </a:prstGeom>
        </p:spPr>
        <p:txBody>
          <a:bodyPr anchor="t" rtlCol="false" tIns="0" lIns="0" bIns="0" rIns="0">
            <a:spAutoFit/>
          </a:bodyPr>
          <a:lstStyle/>
          <a:p>
            <a:pPr algn="ctr">
              <a:lnSpc>
                <a:spcPts val="7620"/>
              </a:lnSpc>
            </a:pPr>
            <a:r>
              <a:rPr lang="en-US" b="true" sz="6000">
                <a:solidFill>
                  <a:srgbClr val="000000"/>
                </a:solidFill>
                <a:latin typeface="TT Chocolates Bold"/>
                <a:ea typeface="TT Chocolates Bold"/>
                <a:cs typeface="TT Chocolates Bold"/>
                <a:sym typeface="TT Chocolates Bold"/>
              </a:rPr>
              <a:t>Arquitectura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24376">
            <a:off x="-2702875" y="2933531"/>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928208"/>
            <a:ext cx="4974134" cy="3320527"/>
            <a:chOff x="0" y="0"/>
            <a:chExt cx="1814578" cy="1211337"/>
          </a:xfrm>
        </p:grpSpPr>
        <p:sp>
          <p:nvSpPr>
            <p:cNvPr name="Freeform 4" id="4"/>
            <p:cNvSpPr/>
            <p:nvPr/>
          </p:nvSpPr>
          <p:spPr>
            <a:xfrm flipH="false" flipV="false" rot="0">
              <a:off x="0" y="0"/>
              <a:ext cx="1814578" cy="1211337"/>
            </a:xfrm>
            <a:custGeom>
              <a:avLst/>
              <a:gdLst/>
              <a:ahLst/>
              <a:cxnLst/>
              <a:rect r="r" b="b" t="t" l="l"/>
              <a:pathLst>
                <a:path h="1211337" w="1814578">
                  <a:moveTo>
                    <a:pt x="1690118" y="1211337"/>
                  </a:moveTo>
                  <a:lnTo>
                    <a:pt x="124460" y="1211337"/>
                  </a:lnTo>
                  <a:cubicBezTo>
                    <a:pt x="55880" y="1211337"/>
                    <a:pt x="0" y="1155457"/>
                    <a:pt x="0" y="1086877"/>
                  </a:cubicBezTo>
                  <a:lnTo>
                    <a:pt x="0" y="124460"/>
                  </a:lnTo>
                  <a:cubicBezTo>
                    <a:pt x="0" y="55880"/>
                    <a:pt x="55880" y="0"/>
                    <a:pt x="124460" y="0"/>
                  </a:cubicBezTo>
                  <a:lnTo>
                    <a:pt x="1690118" y="0"/>
                  </a:lnTo>
                  <a:cubicBezTo>
                    <a:pt x="1758698" y="0"/>
                    <a:pt x="1814578" y="55880"/>
                    <a:pt x="1814578" y="124460"/>
                  </a:cubicBezTo>
                  <a:lnTo>
                    <a:pt x="1814578" y="1086877"/>
                  </a:lnTo>
                  <a:cubicBezTo>
                    <a:pt x="1814578" y="1155457"/>
                    <a:pt x="1758698" y="1211337"/>
                    <a:pt x="1690118" y="1211337"/>
                  </a:cubicBezTo>
                  <a:close/>
                </a:path>
              </a:pathLst>
            </a:custGeom>
            <a:solidFill>
              <a:srgbClr val="FFFFFF"/>
            </a:solidFill>
          </p:spPr>
        </p:sp>
      </p:grpSp>
      <p:grpSp>
        <p:nvGrpSpPr>
          <p:cNvPr name="Group 5" id="5"/>
          <p:cNvGrpSpPr/>
          <p:nvPr/>
        </p:nvGrpSpPr>
        <p:grpSpPr>
          <a:xfrm rot="0">
            <a:off x="3788727" y="6553535"/>
            <a:ext cx="4974134" cy="3320527"/>
            <a:chOff x="0" y="0"/>
            <a:chExt cx="1814578" cy="1211337"/>
          </a:xfrm>
        </p:grpSpPr>
        <p:sp>
          <p:nvSpPr>
            <p:cNvPr name="Freeform 6" id="6"/>
            <p:cNvSpPr/>
            <p:nvPr/>
          </p:nvSpPr>
          <p:spPr>
            <a:xfrm flipH="false" flipV="false" rot="0">
              <a:off x="0" y="0"/>
              <a:ext cx="1814578" cy="1211337"/>
            </a:xfrm>
            <a:custGeom>
              <a:avLst/>
              <a:gdLst/>
              <a:ahLst/>
              <a:cxnLst/>
              <a:rect r="r" b="b" t="t" l="l"/>
              <a:pathLst>
                <a:path h="1211337" w="1814578">
                  <a:moveTo>
                    <a:pt x="1690118" y="1211337"/>
                  </a:moveTo>
                  <a:lnTo>
                    <a:pt x="124460" y="1211337"/>
                  </a:lnTo>
                  <a:cubicBezTo>
                    <a:pt x="55880" y="1211337"/>
                    <a:pt x="0" y="1155457"/>
                    <a:pt x="0" y="1086877"/>
                  </a:cubicBezTo>
                  <a:lnTo>
                    <a:pt x="0" y="124460"/>
                  </a:lnTo>
                  <a:cubicBezTo>
                    <a:pt x="0" y="55880"/>
                    <a:pt x="55880" y="0"/>
                    <a:pt x="124460" y="0"/>
                  </a:cubicBezTo>
                  <a:lnTo>
                    <a:pt x="1690118" y="0"/>
                  </a:lnTo>
                  <a:cubicBezTo>
                    <a:pt x="1758698" y="0"/>
                    <a:pt x="1814578" y="55880"/>
                    <a:pt x="1814578" y="124460"/>
                  </a:cubicBezTo>
                  <a:lnTo>
                    <a:pt x="1814578" y="1086877"/>
                  </a:lnTo>
                  <a:cubicBezTo>
                    <a:pt x="1814578" y="1155457"/>
                    <a:pt x="1758698" y="1211337"/>
                    <a:pt x="1690118" y="1211337"/>
                  </a:cubicBezTo>
                  <a:close/>
                </a:path>
              </a:pathLst>
            </a:custGeom>
            <a:solidFill>
              <a:srgbClr val="FFFFFF"/>
            </a:solidFill>
          </p:spPr>
        </p:sp>
      </p:grpSp>
      <p:grpSp>
        <p:nvGrpSpPr>
          <p:cNvPr name="Group 7" id="7"/>
          <p:cNvGrpSpPr/>
          <p:nvPr/>
        </p:nvGrpSpPr>
        <p:grpSpPr>
          <a:xfrm rot="0">
            <a:off x="9424303" y="6553535"/>
            <a:ext cx="4974134" cy="3320527"/>
            <a:chOff x="0" y="0"/>
            <a:chExt cx="1814578" cy="1211337"/>
          </a:xfrm>
        </p:grpSpPr>
        <p:sp>
          <p:nvSpPr>
            <p:cNvPr name="Freeform 8" id="8"/>
            <p:cNvSpPr/>
            <p:nvPr/>
          </p:nvSpPr>
          <p:spPr>
            <a:xfrm flipH="false" flipV="false" rot="0">
              <a:off x="0" y="0"/>
              <a:ext cx="1814578" cy="1211337"/>
            </a:xfrm>
            <a:custGeom>
              <a:avLst/>
              <a:gdLst/>
              <a:ahLst/>
              <a:cxnLst/>
              <a:rect r="r" b="b" t="t" l="l"/>
              <a:pathLst>
                <a:path h="1211337" w="1814578">
                  <a:moveTo>
                    <a:pt x="1690118" y="1211337"/>
                  </a:moveTo>
                  <a:lnTo>
                    <a:pt x="124460" y="1211337"/>
                  </a:lnTo>
                  <a:cubicBezTo>
                    <a:pt x="55880" y="1211337"/>
                    <a:pt x="0" y="1155457"/>
                    <a:pt x="0" y="1086877"/>
                  </a:cubicBezTo>
                  <a:lnTo>
                    <a:pt x="0" y="124460"/>
                  </a:lnTo>
                  <a:cubicBezTo>
                    <a:pt x="0" y="55880"/>
                    <a:pt x="55880" y="0"/>
                    <a:pt x="124460" y="0"/>
                  </a:cubicBezTo>
                  <a:lnTo>
                    <a:pt x="1690118" y="0"/>
                  </a:lnTo>
                  <a:cubicBezTo>
                    <a:pt x="1758698" y="0"/>
                    <a:pt x="1814578" y="55880"/>
                    <a:pt x="1814578" y="124460"/>
                  </a:cubicBezTo>
                  <a:lnTo>
                    <a:pt x="1814578" y="1086877"/>
                  </a:lnTo>
                  <a:cubicBezTo>
                    <a:pt x="1814578" y="1155457"/>
                    <a:pt x="1758698" y="1211337"/>
                    <a:pt x="1690118" y="1211337"/>
                  </a:cubicBezTo>
                  <a:close/>
                </a:path>
              </a:pathLst>
            </a:custGeom>
            <a:solidFill>
              <a:srgbClr val="FFFFFF"/>
            </a:solidFill>
          </p:spPr>
        </p:sp>
      </p:grpSp>
      <p:grpSp>
        <p:nvGrpSpPr>
          <p:cNvPr name="Group 9" id="9"/>
          <p:cNvGrpSpPr/>
          <p:nvPr/>
        </p:nvGrpSpPr>
        <p:grpSpPr>
          <a:xfrm rot="0">
            <a:off x="12191672" y="2928208"/>
            <a:ext cx="4974134" cy="3320527"/>
            <a:chOff x="0" y="0"/>
            <a:chExt cx="1814578" cy="1211337"/>
          </a:xfrm>
        </p:grpSpPr>
        <p:sp>
          <p:nvSpPr>
            <p:cNvPr name="Freeform 10" id="10"/>
            <p:cNvSpPr/>
            <p:nvPr/>
          </p:nvSpPr>
          <p:spPr>
            <a:xfrm flipH="false" flipV="false" rot="0">
              <a:off x="0" y="0"/>
              <a:ext cx="1814578" cy="1211337"/>
            </a:xfrm>
            <a:custGeom>
              <a:avLst/>
              <a:gdLst/>
              <a:ahLst/>
              <a:cxnLst/>
              <a:rect r="r" b="b" t="t" l="l"/>
              <a:pathLst>
                <a:path h="1211337" w="1814578">
                  <a:moveTo>
                    <a:pt x="1690118" y="1211337"/>
                  </a:moveTo>
                  <a:lnTo>
                    <a:pt x="124460" y="1211337"/>
                  </a:lnTo>
                  <a:cubicBezTo>
                    <a:pt x="55880" y="1211337"/>
                    <a:pt x="0" y="1155457"/>
                    <a:pt x="0" y="1086877"/>
                  </a:cubicBezTo>
                  <a:lnTo>
                    <a:pt x="0" y="124460"/>
                  </a:lnTo>
                  <a:cubicBezTo>
                    <a:pt x="0" y="55880"/>
                    <a:pt x="55880" y="0"/>
                    <a:pt x="124460" y="0"/>
                  </a:cubicBezTo>
                  <a:lnTo>
                    <a:pt x="1690118" y="0"/>
                  </a:lnTo>
                  <a:cubicBezTo>
                    <a:pt x="1758698" y="0"/>
                    <a:pt x="1814578" y="55880"/>
                    <a:pt x="1814578" y="124460"/>
                  </a:cubicBezTo>
                  <a:lnTo>
                    <a:pt x="1814578" y="1086877"/>
                  </a:lnTo>
                  <a:cubicBezTo>
                    <a:pt x="1814578" y="1155457"/>
                    <a:pt x="1758698" y="1211337"/>
                    <a:pt x="1690118" y="1211337"/>
                  </a:cubicBezTo>
                  <a:close/>
                </a:path>
              </a:pathLst>
            </a:custGeom>
            <a:solidFill>
              <a:srgbClr val="FFFFFF"/>
            </a:solidFill>
          </p:spPr>
        </p:sp>
      </p:grpSp>
      <p:grpSp>
        <p:nvGrpSpPr>
          <p:cNvPr name="Group 11" id="11"/>
          <p:cNvGrpSpPr/>
          <p:nvPr/>
        </p:nvGrpSpPr>
        <p:grpSpPr>
          <a:xfrm rot="0">
            <a:off x="6656933" y="2928208"/>
            <a:ext cx="4974134" cy="3320527"/>
            <a:chOff x="0" y="0"/>
            <a:chExt cx="1814578" cy="1211337"/>
          </a:xfrm>
        </p:grpSpPr>
        <p:sp>
          <p:nvSpPr>
            <p:cNvPr name="Freeform 12" id="12"/>
            <p:cNvSpPr/>
            <p:nvPr/>
          </p:nvSpPr>
          <p:spPr>
            <a:xfrm flipH="false" flipV="false" rot="0">
              <a:off x="0" y="0"/>
              <a:ext cx="1814578" cy="1211337"/>
            </a:xfrm>
            <a:custGeom>
              <a:avLst/>
              <a:gdLst/>
              <a:ahLst/>
              <a:cxnLst/>
              <a:rect r="r" b="b" t="t" l="l"/>
              <a:pathLst>
                <a:path h="1211337" w="1814578">
                  <a:moveTo>
                    <a:pt x="1690118" y="1211337"/>
                  </a:moveTo>
                  <a:lnTo>
                    <a:pt x="124460" y="1211337"/>
                  </a:lnTo>
                  <a:cubicBezTo>
                    <a:pt x="55880" y="1211337"/>
                    <a:pt x="0" y="1155457"/>
                    <a:pt x="0" y="1086877"/>
                  </a:cubicBezTo>
                  <a:lnTo>
                    <a:pt x="0" y="124460"/>
                  </a:lnTo>
                  <a:cubicBezTo>
                    <a:pt x="0" y="55880"/>
                    <a:pt x="55880" y="0"/>
                    <a:pt x="124460" y="0"/>
                  </a:cubicBezTo>
                  <a:lnTo>
                    <a:pt x="1690118" y="0"/>
                  </a:lnTo>
                  <a:cubicBezTo>
                    <a:pt x="1758698" y="0"/>
                    <a:pt x="1814578" y="55880"/>
                    <a:pt x="1814578" y="124460"/>
                  </a:cubicBezTo>
                  <a:lnTo>
                    <a:pt x="1814578" y="1086877"/>
                  </a:lnTo>
                  <a:cubicBezTo>
                    <a:pt x="1814578" y="1155457"/>
                    <a:pt x="1758698" y="1211337"/>
                    <a:pt x="1690118" y="1211337"/>
                  </a:cubicBezTo>
                  <a:close/>
                </a:path>
              </a:pathLst>
            </a:custGeom>
            <a:solidFill>
              <a:srgbClr val="FFFFFF"/>
            </a:solidFill>
          </p:spPr>
        </p:sp>
      </p:grpSp>
      <p:sp>
        <p:nvSpPr>
          <p:cNvPr name="Freeform 13" id="13"/>
          <p:cNvSpPr/>
          <p:nvPr/>
        </p:nvSpPr>
        <p:spPr>
          <a:xfrm flipH="false" flipV="false" rot="0">
            <a:off x="2466507" y="3847614"/>
            <a:ext cx="2098519" cy="1867682"/>
          </a:xfrm>
          <a:custGeom>
            <a:avLst/>
            <a:gdLst/>
            <a:ahLst/>
            <a:cxnLst/>
            <a:rect r="r" b="b" t="t" l="l"/>
            <a:pathLst>
              <a:path h="1867682" w="2098519">
                <a:moveTo>
                  <a:pt x="0" y="0"/>
                </a:moveTo>
                <a:lnTo>
                  <a:pt x="2098520" y="0"/>
                </a:lnTo>
                <a:lnTo>
                  <a:pt x="2098520" y="1867682"/>
                </a:lnTo>
                <a:lnTo>
                  <a:pt x="0" y="18676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7980065" y="3617519"/>
            <a:ext cx="2327870" cy="2327870"/>
          </a:xfrm>
          <a:custGeom>
            <a:avLst/>
            <a:gdLst/>
            <a:ahLst/>
            <a:cxnLst/>
            <a:rect r="r" b="b" t="t" l="l"/>
            <a:pathLst>
              <a:path h="2327870" w="2327870">
                <a:moveTo>
                  <a:pt x="0" y="0"/>
                </a:moveTo>
                <a:lnTo>
                  <a:pt x="2327870" y="0"/>
                </a:lnTo>
                <a:lnTo>
                  <a:pt x="2327870" y="2327871"/>
                </a:lnTo>
                <a:lnTo>
                  <a:pt x="0" y="2327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3612267" y="3736395"/>
            <a:ext cx="2427467" cy="2208995"/>
          </a:xfrm>
          <a:custGeom>
            <a:avLst/>
            <a:gdLst/>
            <a:ahLst/>
            <a:cxnLst/>
            <a:rect r="r" b="b" t="t" l="l"/>
            <a:pathLst>
              <a:path h="2208995" w="2427467">
                <a:moveTo>
                  <a:pt x="0" y="0"/>
                </a:moveTo>
                <a:lnTo>
                  <a:pt x="2427467" y="0"/>
                </a:lnTo>
                <a:lnTo>
                  <a:pt x="2427467" y="2208995"/>
                </a:lnTo>
                <a:lnTo>
                  <a:pt x="0" y="2208995"/>
                </a:lnTo>
                <a:lnTo>
                  <a:pt x="0" y="0"/>
                </a:lnTo>
                <a:close/>
              </a:path>
            </a:pathLst>
          </a:custGeom>
          <a:blipFill>
            <a:blip r:embed="rId8"/>
            <a:stretch>
              <a:fillRect l="0" t="0" r="0" b="0"/>
            </a:stretch>
          </a:blipFill>
        </p:spPr>
      </p:sp>
      <p:sp>
        <p:nvSpPr>
          <p:cNvPr name="Freeform 16" id="16"/>
          <p:cNvSpPr/>
          <p:nvPr/>
        </p:nvSpPr>
        <p:spPr>
          <a:xfrm flipH="false" flipV="false" rot="0">
            <a:off x="5323039" y="7636769"/>
            <a:ext cx="1905510" cy="1915085"/>
          </a:xfrm>
          <a:custGeom>
            <a:avLst/>
            <a:gdLst/>
            <a:ahLst/>
            <a:cxnLst/>
            <a:rect r="r" b="b" t="t" l="l"/>
            <a:pathLst>
              <a:path h="1915085" w="1905510">
                <a:moveTo>
                  <a:pt x="0" y="0"/>
                </a:moveTo>
                <a:lnTo>
                  <a:pt x="1905510" y="0"/>
                </a:lnTo>
                <a:lnTo>
                  <a:pt x="1905510" y="1915085"/>
                </a:lnTo>
                <a:lnTo>
                  <a:pt x="0" y="19150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7" id="17"/>
          <p:cNvGrpSpPr/>
          <p:nvPr/>
        </p:nvGrpSpPr>
        <p:grpSpPr>
          <a:xfrm rot="0">
            <a:off x="10694279" y="7636769"/>
            <a:ext cx="2434181" cy="1915085"/>
            <a:chOff x="0" y="0"/>
            <a:chExt cx="3245575" cy="2553447"/>
          </a:xfrm>
        </p:grpSpPr>
        <p:sp>
          <p:nvSpPr>
            <p:cNvPr name="Freeform 18" id="18"/>
            <p:cNvSpPr/>
            <p:nvPr/>
          </p:nvSpPr>
          <p:spPr>
            <a:xfrm flipH="false" flipV="false" rot="0">
              <a:off x="0" y="105023"/>
              <a:ext cx="2460728" cy="2448424"/>
            </a:xfrm>
            <a:custGeom>
              <a:avLst/>
              <a:gdLst/>
              <a:ahLst/>
              <a:cxnLst/>
              <a:rect r="r" b="b" t="t" l="l"/>
              <a:pathLst>
                <a:path h="2448424" w="2460728">
                  <a:moveTo>
                    <a:pt x="0" y="0"/>
                  </a:moveTo>
                  <a:lnTo>
                    <a:pt x="2460728" y="0"/>
                  </a:lnTo>
                  <a:lnTo>
                    <a:pt x="2460728" y="2448424"/>
                  </a:lnTo>
                  <a:lnTo>
                    <a:pt x="0" y="24484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2081362" y="0"/>
              <a:ext cx="1164213" cy="1012865"/>
            </a:xfrm>
            <a:custGeom>
              <a:avLst/>
              <a:gdLst/>
              <a:ahLst/>
              <a:cxnLst/>
              <a:rect r="r" b="b" t="t" l="l"/>
              <a:pathLst>
                <a:path h="1012865" w="1164213">
                  <a:moveTo>
                    <a:pt x="0" y="0"/>
                  </a:moveTo>
                  <a:lnTo>
                    <a:pt x="1164213" y="0"/>
                  </a:lnTo>
                  <a:lnTo>
                    <a:pt x="1164213" y="1012865"/>
                  </a:lnTo>
                  <a:lnTo>
                    <a:pt x="0" y="101286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sp>
        <p:nvSpPr>
          <p:cNvPr name="TextBox 20" id="20"/>
          <p:cNvSpPr txBox="true"/>
          <p:nvPr/>
        </p:nvSpPr>
        <p:spPr>
          <a:xfrm rot="0">
            <a:off x="1028700" y="285750"/>
            <a:ext cx="16230600" cy="1040130"/>
          </a:xfrm>
          <a:prstGeom prst="rect">
            <a:avLst/>
          </a:prstGeom>
        </p:spPr>
        <p:txBody>
          <a:bodyPr anchor="t" rtlCol="false" tIns="0" lIns="0" bIns="0" rIns="0">
            <a:spAutoFit/>
          </a:bodyPr>
          <a:lstStyle/>
          <a:p>
            <a:pPr algn="ctr">
              <a:lnSpc>
                <a:spcPts val="9135"/>
              </a:lnSpc>
            </a:pPr>
            <a:r>
              <a:rPr lang="en-US" sz="4500" spc="386">
                <a:solidFill>
                  <a:srgbClr val="000000"/>
                </a:solidFill>
                <a:latin typeface="TT Chocolates"/>
                <a:ea typeface="TT Chocolates"/>
                <a:cs typeface="TT Chocolates"/>
                <a:sym typeface="TT Chocolates"/>
              </a:rPr>
              <a:t>RESTRICCIONES Y DIFICULTADES</a:t>
            </a:r>
          </a:p>
        </p:txBody>
      </p:sp>
      <p:sp>
        <p:nvSpPr>
          <p:cNvPr name="TextBox 21" id="21"/>
          <p:cNvSpPr txBox="true"/>
          <p:nvPr/>
        </p:nvSpPr>
        <p:spPr>
          <a:xfrm rot="0">
            <a:off x="2362230" y="1650617"/>
            <a:ext cx="13563541" cy="781405"/>
          </a:xfrm>
          <a:prstGeom prst="rect">
            <a:avLst/>
          </a:prstGeom>
        </p:spPr>
        <p:txBody>
          <a:bodyPr anchor="t" rtlCol="false" tIns="0" lIns="0" bIns="0" rIns="0">
            <a:spAutoFit/>
          </a:bodyPr>
          <a:lstStyle/>
          <a:p>
            <a:pPr algn="ctr">
              <a:lnSpc>
                <a:spcPts val="3000"/>
              </a:lnSpc>
              <a:spcBef>
                <a:spcPct val="0"/>
              </a:spcBef>
            </a:pPr>
            <a:r>
              <a:rPr lang="en-US" sz="2752">
                <a:solidFill>
                  <a:srgbClr val="000000"/>
                </a:solidFill>
                <a:latin typeface="TT Chocolates"/>
                <a:ea typeface="TT Chocolates"/>
                <a:cs typeface="TT Chocolates"/>
                <a:sym typeface="TT Chocolates"/>
              </a:rPr>
              <a:t>Dentro de las posibles limitaciones que se podrían presentar durante el desarrollo del proyecto, se plantean las siguientes:</a:t>
            </a:r>
          </a:p>
        </p:txBody>
      </p:sp>
      <p:sp>
        <p:nvSpPr>
          <p:cNvPr name="TextBox 22" id="22"/>
          <p:cNvSpPr txBox="true"/>
          <p:nvPr/>
        </p:nvSpPr>
        <p:spPr>
          <a:xfrm rot="0">
            <a:off x="1579879" y="3067197"/>
            <a:ext cx="3871776" cy="639445"/>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Errores en exportación de aplicaciones</a:t>
            </a:r>
          </a:p>
        </p:txBody>
      </p:sp>
      <p:sp>
        <p:nvSpPr>
          <p:cNvPr name="TextBox 23" id="23"/>
          <p:cNvSpPr txBox="true"/>
          <p:nvPr/>
        </p:nvSpPr>
        <p:spPr>
          <a:xfrm rot="0">
            <a:off x="4339906" y="6692524"/>
            <a:ext cx="3871776" cy="639445"/>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Limitaciones por conectividad continua</a:t>
            </a:r>
          </a:p>
        </p:txBody>
      </p:sp>
      <p:sp>
        <p:nvSpPr>
          <p:cNvPr name="TextBox 24" id="24"/>
          <p:cNvSpPr txBox="true"/>
          <p:nvPr/>
        </p:nvSpPr>
        <p:spPr>
          <a:xfrm rot="0">
            <a:off x="9975482" y="6692524"/>
            <a:ext cx="3871776" cy="95377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Dificultades al configurar entornos de desarrollo y/o entornos de Monorepo</a:t>
            </a:r>
          </a:p>
        </p:txBody>
      </p:sp>
      <p:sp>
        <p:nvSpPr>
          <p:cNvPr name="TextBox 25" id="25"/>
          <p:cNvSpPr txBox="true"/>
          <p:nvPr/>
        </p:nvSpPr>
        <p:spPr>
          <a:xfrm rot="0">
            <a:off x="12294379" y="3067197"/>
            <a:ext cx="4768721" cy="639445"/>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Errores de compatibilidad de herramientas de desarrollo y/o versiones de las mismas</a:t>
            </a:r>
          </a:p>
        </p:txBody>
      </p:sp>
      <p:sp>
        <p:nvSpPr>
          <p:cNvPr name="TextBox 26" id="26"/>
          <p:cNvSpPr txBox="true"/>
          <p:nvPr/>
        </p:nvSpPr>
        <p:spPr>
          <a:xfrm rot="0">
            <a:off x="7208112" y="3067197"/>
            <a:ext cx="3871776" cy="325120"/>
          </a:xfrm>
          <a:prstGeom prst="rect">
            <a:avLst/>
          </a:prstGeom>
        </p:spPr>
        <p:txBody>
          <a:bodyPr anchor="t" rtlCol="false" tIns="0" lIns="0" bIns="0" rIns="0">
            <a:spAutoFit/>
          </a:bodyPr>
          <a:lstStyle/>
          <a:p>
            <a:pPr algn="ctr">
              <a:lnSpc>
                <a:spcPts val="2540"/>
              </a:lnSpc>
            </a:pPr>
            <a:r>
              <a:rPr lang="en-US" b="true" sz="2000">
                <a:solidFill>
                  <a:srgbClr val="000000"/>
                </a:solidFill>
                <a:latin typeface="TT Chocolates Bold"/>
                <a:ea typeface="TT Chocolates Bold"/>
                <a:cs typeface="TT Chocolates Bold"/>
                <a:sym typeface="TT Chocolates Bold"/>
              </a:rPr>
              <a:t>Dependencia operativa de las APIs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24376">
            <a:off x="-3674384" y="-4865021"/>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3" id="3"/>
          <p:cNvGraphicFramePr/>
          <p:nvPr/>
        </p:nvGraphicFramePr>
        <p:xfrm>
          <a:off x="394618" y="2315347"/>
          <a:ext cx="9658350" cy="6915150"/>
        </p:xfrm>
        <a:graphic>
          <a:graphicData uri="http://schemas.openxmlformats.org/presentationml/2006/ole">
            <p:oleObj imgW="11582400" imgH="8839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4" id="4"/>
          <p:cNvGraphicFramePr/>
          <p:nvPr/>
        </p:nvGraphicFramePr>
        <p:xfrm>
          <a:off x="8377711" y="3900874"/>
          <a:ext cx="10729912" cy="1885950"/>
        </p:xfrm>
        <a:graphic>
          <a:graphicData uri="http://schemas.openxmlformats.org/presentationml/2006/ole">
            <p:oleObj imgW="12877800" imgH="40259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5" id="5"/>
          <p:cNvSpPr txBox="true"/>
          <p:nvPr/>
        </p:nvSpPr>
        <p:spPr>
          <a:xfrm rot="0">
            <a:off x="1028700" y="857515"/>
            <a:ext cx="16230600" cy="1040130"/>
          </a:xfrm>
          <a:prstGeom prst="rect">
            <a:avLst/>
          </a:prstGeom>
        </p:spPr>
        <p:txBody>
          <a:bodyPr anchor="t" rtlCol="false" tIns="0" lIns="0" bIns="0" rIns="0">
            <a:spAutoFit/>
          </a:bodyPr>
          <a:lstStyle/>
          <a:p>
            <a:pPr algn="ctr">
              <a:lnSpc>
                <a:spcPts val="9135"/>
              </a:lnSpc>
            </a:pPr>
            <a:r>
              <a:rPr lang="en-US" sz="4500" spc="386">
                <a:solidFill>
                  <a:srgbClr val="000000"/>
                </a:solidFill>
                <a:latin typeface="TT Chocolates"/>
                <a:ea typeface="TT Chocolates"/>
                <a:cs typeface="TT Chocolates"/>
                <a:sym typeface="TT Chocolates"/>
              </a:rPr>
              <a:t>HITO/ÉPICA Y HISTORIA DE USUARIO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24376">
            <a:off x="-3674384" y="-4865021"/>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2530472" y="2124575"/>
            <a:ext cx="13227057" cy="7440219"/>
          </a:xfrm>
          <a:prstGeom prst="rect">
            <a:avLst/>
          </a:prstGeom>
        </p:spPr>
      </p:pic>
      <p:sp>
        <p:nvSpPr>
          <p:cNvPr name="TextBox 4" id="4"/>
          <p:cNvSpPr txBox="true"/>
          <p:nvPr/>
        </p:nvSpPr>
        <p:spPr>
          <a:xfrm rot="0">
            <a:off x="1028700" y="-95250"/>
            <a:ext cx="16230600" cy="1040130"/>
          </a:xfrm>
          <a:prstGeom prst="rect">
            <a:avLst/>
          </a:prstGeom>
        </p:spPr>
        <p:txBody>
          <a:bodyPr anchor="t" rtlCol="false" tIns="0" lIns="0" bIns="0" rIns="0">
            <a:spAutoFit/>
          </a:bodyPr>
          <a:lstStyle/>
          <a:p>
            <a:pPr algn="ctr">
              <a:lnSpc>
                <a:spcPts val="9135"/>
              </a:lnSpc>
            </a:pPr>
            <a:r>
              <a:rPr lang="en-US" sz="4500" spc="386">
                <a:solidFill>
                  <a:srgbClr val="000000"/>
                </a:solidFill>
                <a:latin typeface="TT Chocolates"/>
                <a:ea typeface="TT Chocolates"/>
                <a:cs typeface="TT Chocolates"/>
                <a:sym typeface="TT Chocolates"/>
              </a:rPr>
              <a:t>VIDEO DE MOCKUPS</a:t>
            </a:r>
          </a:p>
        </p:txBody>
      </p:sp>
      <p:sp>
        <p:nvSpPr>
          <p:cNvPr name="TextBox 5" id="5"/>
          <p:cNvSpPr txBox="true"/>
          <p:nvPr/>
        </p:nvSpPr>
        <p:spPr>
          <a:xfrm rot="0">
            <a:off x="2362230" y="1152670"/>
            <a:ext cx="13563541" cy="781405"/>
          </a:xfrm>
          <a:prstGeom prst="rect">
            <a:avLst/>
          </a:prstGeom>
        </p:spPr>
        <p:txBody>
          <a:bodyPr anchor="t" rtlCol="false" tIns="0" lIns="0" bIns="0" rIns="0">
            <a:spAutoFit/>
          </a:bodyPr>
          <a:lstStyle/>
          <a:p>
            <a:pPr algn="ctr">
              <a:lnSpc>
                <a:spcPts val="3000"/>
              </a:lnSpc>
            </a:pPr>
            <a:r>
              <a:rPr lang="en-US" sz="2752">
                <a:solidFill>
                  <a:srgbClr val="000000"/>
                </a:solidFill>
                <a:latin typeface="TT Chocolates"/>
                <a:ea typeface="TT Chocolates"/>
                <a:cs typeface="TT Chocolates"/>
                <a:sym typeface="TT Chocolates"/>
              </a:rPr>
              <a:t>En este video se presenta el flujo de los Mockups para el usuario principal </a:t>
            </a:r>
          </a:p>
          <a:p>
            <a:pPr algn="ctr">
              <a:lnSpc>
                <a:spcPts val="3000"/>
              </a:lnSpc>
              <a:spcBef>
                <a:spcPct val="0"/>
              </a:spcBef>
            </a:pPr>
            <a:r>
              <a:rPr lang="en-US" sz="2752">
                <a:solidFill>
                  <a:srgbClr val="000000"/>
                </a:solidFill>
                <a:latin typeface="TT Chocolates"/>
                <a:ea typeface="TT Chocolates"/>
                <a:cs typeface="TT Chocolates"/>
                <a:sym typeface="TT Chocolates"/>
              </a:rPr>
              <a:t>(Cuenta que tiene un plan pagado)</a:t>
            </a:r>
          </a:p>
        </p:txBody>
      </p:sp>
    </p:spTree>
  </p:cSld>
  <p:clrMapOvr>
    <a:masterClrMapping/>
  </p:clrMapOvr>
  <p:timing>
    <p:tnLst>
      <p:par>
        <p:cTn dur="indefinite" restart="never" nodeType="tmRoot">
          <p:childTnLst>
            <p:video>
              <p:cMediaNode vol="100000">
                <p:cTn fill="hold" display="false">
                  <p:stCondLst>
                    <p:cond delay="indefinite"/>
                  </p:stCondLst>
                </p:cTn>
                <p:tgtEl>
                  <p:spTgt spid="3"/>
                </p:tgtEl>
              </p:cMediaNode>
            </p:video>
          </p:childTnLst>
        </p:cTn>
      </p:par>
    </p:tnLst>
  </p:timing>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24376">
            <a:off x="-3674384" y="-4865021"/>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09825" y="-476604"/>
            <a:ext cx="9187615" cy="10872918"/>
          </a:xfrm>
          <a:custGeom>
            <a:avLst/>
            <a:gdLst/>
            <a:ahLst/>
            <a:cxnLst/>
            <a:rect r="r" b="b" t="t" l="l"/>
            <a:pathLst>
              <a:path h="10872918" w="9187615">
                <a:moveTo>
                  <a:pt x="0" y="0"/>
                </a:moveTo>
                <a:lnTo>
                  <a:pt x="9187615" y="0"/>
                </a:lnTo>
                <a:lnTo>
                  <a:pt x="9187615" y="10872917"/>
                </a:lnTo>
                <a:lnTo>
                  <a:pt x="0" y="108729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384304" y="4039601"/>
            <a:ext cx="5949393" cy="3750955"/>
          </a:xfrm>
          <a:prstGeom prst="rect">
            <a:avLst/>
          </a:prstGeom>
        </p:spPr>
        <p:txBody>
          <a:bodyPr anchor="t" rtlCol="false" tIns="0" lIns="0" bIns="0" rIns="0">
            <a:spAutoFit/>
          </a:bodyPr>
          <a:lstStyle/>
          <a:p>
            <a:pPr algn="ctr">
              <a:lnSpc>
                <a:spcPts val="3302"/>
              </a:lnSpc>
              <a:spcBef>
                <a:spcPct val="0"/>
              </a:spcBef>
            </a:pPr>
            <a:r>
              <a:rPr lang="en-US" sz="2600">
                <a:solidFill>
                  <a:srgbClr val="000000"/>
                </a:solidFill>
                <a:latin typeface="TT Chocolates"/>
                <a:ea typeface="TT Chocolates"/>
                <a:cs typeface="TT Chocolates"/>
                <a:sym typeface="TT Chocolates"/>
              </a:rPr>
              <a:t>Consideramos la mejora de implementar un sistema IOT el cual funcione como botón SOS, el cual será personalizable y entregara la ubicación a tiempo real de usuario.</a:t>
            </a:r>
          </a:p>
          <a:p>
            <a:pPr algn="ctr">
              <a:lnSpc>
                <a:spcPts val="3302"/>
              </a:lnSpc>
              <a:spcBef>
                <a:spcPct val="0"/>
              </a:spcBef>
            </a:pPr>
            <a:r>
              <a:rPr lang="en-US" sz="2600">
                <a:solidFill>
                  <a:srgbClr val="000000"/>
                </a:solidFill>
                <a:latin typeface="TT Chocolates"/>
                <a:ea typeface="TT Chocolates"/>
                <a:cs typeface="TT Chocolates"/>
                <a:sym typeface="TT Chocolates"/>
              </a:rPr>
              <a:t> </a:t>
            </a:r>
          </a:p>
          <a:p>
            <a:pPr algn="ctr">
              <a:lnSpc>
                <a:spcPts val="3302"/>
              </a:lnSpc>
              <a:spcBef>
                <a:spcPct val="0"/>
              </a:spcBef>
            </a:pPr>
            <a:r>
              <a:rPr lang="en-US" sz="2600">
                <a:solidFill>
                  <a:srgbClr val="000000"/>
                </a:solidFill>
                <a:latin typeface="TT Chocolates"/>
                <a:ea typeface="TT Chocolates"/>
                <a:cs typeface="TT Chocolates"/>
                <a:sym typeface="TT Chocolates"/>
              </a:rPr>
              <a:t>La finalidad es desvincular este proceso de alerta de los dispositivos móvil para tener un seguimiento mas exacto del usuario</a:t>
            </a:r>
          </a:p>
        </p:txBody>
      </p:sp>
      <p:sp>
        <p:nvSpPr>
          <p:cNvPr name="Freeform 5" id="5"/>
          <p:cNvSpPr/>
          <p:nvPr/>
        </p:nvSpPr>
        <p:spPr>
          <a:xfrm flipH="false" flipV="false" rot="2700000">
            <a:off x="-678658" y="3004609"/>
            <a:ext cx="5414776" cy="5360628"/>
          </a:xfrm>
          <a:custGeom>
            <a:avLst/>
            <a:gdLst/>
            <a:ahLst/>
            <a:cxnLst/>
            <a:rect r="r" b="b" t="t" l="l"/>
            <a:pathLst>
              <a:path h="5360628" w="5414776">
                <a:moveTo>
                  <a:pt x="0" y="0"/>
                </a:moveTo>
                <a:lnTo>
                  <a:pt x="5414775" y="0"/>
                </a:lnTo>
                <a:lnTo>
                  <a:pt x="5414775" y="5360628"/>
                </a:lnTo>
                <a:lnTo>
                  <a:pt x="0" y="5360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321201">
            <a:off x="961639" y="7045001"/>
            <a:ext cx="2077197" cy="1038598"/>
          </a:xfrm>
          <a:custGeom>
            <a:avLst/>
            <a:gdLst/>
            <a:ahLst/>
            <a:cxnLst/>
            <a:rect r="r" b="b" t="t" l="l"/>
            <a:pathLst>
              <a:path h="1038598" w="2077197">
                <a:moveTo>
                  <a:pt x="0" y="0"/>
                </a:moveTo>
                <a:lnTo>
                  <a:pt x="2077197" y="0"/>
                </a:lnTo>
                <a:lnTo>
                  <a:pt x="2077197" y="1038598"/>
                </a:lnTo>
                <a:lnTo>
                  <a:pt x="0" y="10385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5028246" y="3906356"/>
            <a:ext cx="695309" cy="1053498"/>
          </a:xfrm>
          <a:custGeom>
            <a:avLst/>
            <a:gdLst/>
            <a:ahLst/>
            <a:cxnLst/>
            <a:rect r="r" b="b" t="t" l="l"/>
            <a:pathLst>
              <a:path h="1053498" w="695309">
                <a:moveTo>
                  <a:pt x="0" y="0"/>
                </a:moveTo>
                <a:lnTo>
                  <a:pt x="695309" y="0"/>
                </a:lnTo>
                <a:lnTo>
                  <a:pt x="695309" y="1053498"/>
                </a:lnTo>
                <a:lnTo>
                  <a:pt x="0" y="10534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3318500" y="237570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3157412" y="2134494"/>
            <a:ext cx="8403176" cy="1040130"/>
          </a:xfrm>
          <a:prstGeom prst="rect">
            <a:avLst/>
          </a:prstGeom>
        </p:spPr>
        <p:txBody>
          <a:bodyPr anchor="t" rtlCol="false" tIns="0" lIns="0" bIns="0" rIns="0">
            <a:spAutoFit/>
          </a:bodyPr>
          <a:lstStyle/>
          <a:p>
            <a:pPr algn="ctr">
              <a:lnSpc>
                <a:spcPts val="9135"/>
              </a:lnSpc>
            </a:pPr>
            <a:r>
              <a:rPr lang="en-US" sz="4500" spc="386">
                <a:solidFill>
                  <a:srgbClr val="000000"/>
                </a:solidFill>
                <a:latin typeface="TT Chocolates"/>
                <a:ea typeface="TT Chocolates"/>
                <a:cs typeface="TT Chocolates"/>
                <a:sym typeface="TT Chocolates"/>
              </a:rPr>
              <a:t>MEJORAS A FUTURO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EE3FF"/>
        </a:solidFill>
      </p:bgPr>
    </p:bg>
    <p:spTree>
      <p:nvGrpSpPr>
        <p:cNvPr id="1" name=""/>
        <p:cNvGrpSpPr/>
        <p:nvPr/>
      </p:nvGrpSpPr>
      <p:grpSpPr>
        <a:xfrm>
          <a:off x="0" y="0"/>
          <a:ext cx="0" cy="0"/>
          <a:chOff x="0" y="0"/>
          <a:chExt cx="0" cy="0"/>
        </a:xfrm>
      </p:grpSpPr>
      <p:sp>
        <p:nvSpPr>
          <p:cNvPr name="Freeform 2" id="2"/>
          <p:cNvSpPr/>
          <p:nvPr/>
        </p:nvSpPr>
        <p:spPr>
          <a:xfrm flipH="true" flipV="false" rot="224376">
            <a:off x="-3674384" y="-4865021"/>
            <a:ext cx="22539048" cy="8186006"/>
          </a:xfrm>
          <a:custGeom>
            <a:avLst/>
            <a:gdLst/>
            <a:ahLst/>
            <a:cxnLst/>
            <a:rect r="r" b="b" t="t" l="l"/>
            <a:pathLst>
              <a:path h="8186006" w="22539048">
                <a:moveTo>
                  <a:pt x="22539048" y="0"/>
                </a:moveTo>
                <a:lnTo>
                  <a:pt x="0" y="0"/>
                </a:lnTo>
                <a:lnTo>
                  <a:pt x="0" y="8186006"/>
                </a:lnTo>
                <a:lnTo>
                  <a:pt x="22539048" y="8186006"/>
                </a:lnTo>
                <a:lnTo>
                  <a:pt x="2253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040819"/>
            <a:ext cx="16230600" cy="1633862"/>
          </a:xfrm>
          <a:prstGeom prst="rect">
            <a:avLst/>
          </a:prstGeom>
        </p:spPr>
        <p:txBody>
          <a:bodyPr anchor="t" rtlCol="false" tIns="0" lIns="0" bIns="0" rIns="0">
            <a:spAutoFit/>
          </a:bodyPr>
          <a:lstStyle/>
          <a:p>
            <a:pPr algn="ctr">
              <a:lnSpc>
                <a:spcPts val="14209"/>
              </a:lnSpc>
            </a:pPr>
            <a:r>
              <a:rPr lang="en-US" sz="6999" spc="601">
                <a:solidFill>
                  <a:srgbClr val="000000"/>
                </a:solidFill>
                <a:latin typeface="TT Chocolates"/>
                <a:ea typeface="TT Chocolates"/>
                <a:cs typeface="TT Chocolates"/>
                <a:sym typeface="TT Chocolates"/>
              </a:rPr>
              <a:t>CONCLUSIÓN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DAHUv7sxCbk</dc:identifier>
  <dcterms:modified xsi:type="dcterms:W3CDTF">2011-08-01T06:04:30Z</dcterms:modified>
  <cp:revision>1</cp:revision>
  <dc:title>Presentación Mockup Aplicación Móvil Elegante Azul</dc:title>
</cp:coreProperties>
</file>